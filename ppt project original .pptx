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9" autoAdjust="0"/>
  </p:normalViewPr>
  <p:slideViewPr>
    <p:cSldViewPr showGuides="1">
      <p:cViewPr varScale="1">
        <p:scale>
          <a:sx n="43" d="100"/>
          <a:sy n="43" d="100"/>
        </p:scale>
        <p:origin x="91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64924" y="145804"/>
            <a:ext cx="7758151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94060" y="1986428"/>
            <a:ext cx="15714980" cy="554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6165" y="551866"/>
            <a:ext cx="16114635" cy="615553"/>
          </a:xfrm>
        </p:spPr>
        <p:txBody>
          <a:bodyPr wrap="square"/>
          <a:lstStyle/>
          <a:p>
            <a:pPr algn="ctr"/>
            <a:r>
              <a:rPr lang="en-IN" sz="3200" spc="-45" dirty="0">
                <a:sym typeface="+mn-ea"/>
              </a:rPr>
              <a:t>  </a:t>
            </a:r>
            <a:r>
              <a:rPr sz="4000" spc="-45" dirty="0">
                <a:sym typeface="+mn-ea"/>
              </a:rPr>
              <a:t>AI-</a:t>
            </a:r>
            <a:r>
              <a:rPr sz="4000" spc="-10" dirty="0">
                <a:sym typeface="+mn-ea"/>
              </a:rPr>
              <a:t>Based</a:t>
            </a:r>
            <a:r>
              <a:rPr lang="en-IN" sz="4000" spc="-10" dirty="0">
                <a:sym typeface="+mn-ea"/>
              </a:rPr>
              <a:t> </a:t>
            </a:r>
            <a:r>
              <a:rPr sz="4000" spc="-10" dirty="0">
                <a:sym typeface="+mn-ea"/>
              </a:rPr>
              <a:t>Crime</a:t>
            </a:r>
            <a:r>
              <a:rPr lang="en-IN" sz="4000" spc="-10" dirty="0">
                <a:sym typeface="+mn-ea"/>
              </a:rPr>
              <a:t> </a:t>
            </a:r>
            <a:r>
              <a:rPr sz="4000" spc="-10" dirty="0">
                <a:sym typeface="+mn-ea"/>
              </a:rPr>
              <a:t>Prediction</a:t>
            </a:r>
            <a:r>
              <a:rPr lang="en-IN" sz="4000" spc="-10" dirty="0">
                <a:sym typeface="+mn-ea"/>
              </a:rPr>
              <a:t> </a:t>
            </a:r>
            <a:r>
              <a:rPr sz="4000" spc="-25" dirty="0">
                <a:sym typeface="+mn-ea"/>
              </a:rPr>
              <a:t>and</a:t>
            </a:r>
            <a:r>
              <a:rPr lang="en-IN" sz="4000" spc="-25" dirty="0">
                <a:sym typeface="+mn-ea"/>
              </a:rPr>
              <a:t> </a:t>
            </a:r>
            <a:r>
              <a:rPr sz="4000" spc="-10" dirty="0">
                <a:sym typeface="+mn-ea"/>
              </a:rPr>
              <a:t>Hotspot</a:t>
            </a:r>
            <a:r>
              <a:rPr lang="en-IN" sz="4000" spc="-10" dirty="0">
                <a:sym typeface="+mn-ea"/>
              </a:rPr>
              <a:t>  </a:t>
            </a:r>
            <a:r>
              <a:rPr sz="4000" spc="-35" dirty="0">
                <a:sym typeface="+mn-ea"/>
              </a:rPr>
              <a:t>Detection </a:t>
            </a:r>
            <a:r>
              <a:rPr sz="4000" spc="-10" dirty="0">
                <a:sym typeface="+mn-ea"/>
              </a:rPr>
              <a:t>System</a:t>
            </a:r>
            <a:r>
              <a:rPr lang="en-IN" sz="4000" spc="-10" dirty="0">
                <a:sym typeface="+mn-ea"/>
              </a:rPr>
              <a:t> </a:t>
            </a:r>
            <a:r>
              <a:rPr sz="4000" spc="-25" dirty="0">
                <a:sym typeface="+mn-ea"/>
              </a:rPr>
              <a:t>for</a:t>
            </a:r>
            <a:r>
              <a:rPr sz="4000" dirty="0">
                <a:sym typeface="+mn-ea"/>
              </a:rPr>
              <a:t>	</a:t>
            </a:r>
            <a:r>
              <a:rPr sz="4000" spc="-10" dirty="0">
                <a:sym typeface="+mn-ea"/>
              </a:rPr>
              <a:t>India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B3600-E3A7-9BAE-89AD-4E53FBCAD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93863" y="1485900"/>
            <a:ext cx="15714662" cy="81533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5D7DC-BDDC-8513-AA0E-E0FBCD64010E}"/>
              </a:ext>
            </a:extLst>
          </p:cNvPr>
          <p:cNvSpPr txBox="1"/>
          <p:nvPr/>
        </p:nvSpPr>
        <p:spPr>
          <a:xfrm>
            <a:off x="4369594" y="1617191"/>
            <a:ext cx="8584406" cy="2209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Bullam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Sagar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AJ1A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5810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Rangisetty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Aravind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AJ1A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5848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Devireddy Leela Nageshwar 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22AJ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5805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Kalathoti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Meghana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22AJ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5814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20096-4064-92F5-B232-3BCA3F61F400}"/>
              </a:ext>
            </a:extLst>
          </p:cNvPr>
          <p:cNvSpPr txBox="1"/>
          <p:nvPr/>
        </p:nvSpPr>
        <p:spPr>
          <a:xfrm>
            <a:off x="4369594" y="4033066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</a:p>
          <a:p>
            <a:pPr algn="ctr"/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Ms.Erupula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Babitha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Amrita Sai College (@AMRITASAI_) / X">
            <a:extLst>
              <a:ext uri="{FF2B5EF4-FFF2-40B4-BE49-F238E27FC236}">
                <a16:creationId xmlns:a16="http://schemas.microsoft.com/office/drawing/2014/main" id="{961CE304-5855-C745-920A-4B1AE527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094" y="5468277"/>
            <a:ext cx="4191000" cy="242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39ADA2-7244-B02E-5B13-E3468AC70AC7}"/>
              </a:ext>
            </a:extLst>
          </p:cNvPr>
          <p:cNvSpPr txBox="1"/>
          <p:nvPr/>
        </p:nvSpPr>
        <p:spPr>
          <a:xfrm>
            <a:off x="3657600" y="8074796"/>
            <a:ext cx="109727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SAI INSTITUTE OF SCIENCE AND TECHNOLOGY</a:t>
            </a:r>
          </a:p>
          <a:p>
            <a:r>
              <a:rPr lang="en-IN" altLang="en-US" sz="2800" dirty="0"/>
              <a:t>             </a:t>
            </a:r>
            <a:r>
              <a:rPr lang="en-US" sz="2800" dirty="0" err="1"/>
              <a:t>Paritala</a:t>
            </a:r>
            <a:r>
              <a:rPr lang="en-US" sz="2800" dirty="0"/>
              <a:t> , Vijayawada , Andhra Pradesh(521180)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5996919" cy="1020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67655" marR="5080" indent="-5355590">
              <a:lnSpc>
                <a:spcPct val="117000"/>
              </a:lnSpc>
              <a:spcBef>
                <a:spcPts val="95"/>
              </a:spcBef>
              <a:tabLst>
                <a:tab pos="3195320" algn="l"/>
                <a:tab pos="5354955" algn="l"/>
                <a:tab pos="7867650" algn="l"/>
                <a:tab pos="8823960" algn="l"/>
                <a:tab pos="8985885" algn="l"/>
                <a:tab pos="10157460" algn="l"/>
                <a:tab pos="12919075" algn="l"/>
              </a:tabLst>
            </a:pPr>
            <a:r>
              <a:rPr lang="en-IN" altLang="en-US" dirty="0">
                <a:latin typeface="Arial Black" panose="020B0A04020102020204" pitchFamily="34" charset="0"/>
                <a:cs typeface="Arial Black" panose="020B0A04020102020204" pitchFamily="34" charset="0"/>
              </a:rPr>
              <a:t>INDEX :</a:t>
            </a:r>
            <a:endParaRPr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819BE-B6CA-835E-2764-F9FADB2FCBDB}"/>
              </a:ext>
            </a:extLst>
          </p:cNvPr>
          <p:cNvSpPr txBox="1"/>
          <p:nvPr/>
        </p:nvSpPr>
        <p:spPr>
          <a:xfrm>
            <a:off x="558148" y="1058379"/>
            <a:ext cx="16557021" cy="988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10" dirty="0"/>
              <a:t>Problem </a:t>
            </a:r>
            <a:r>
              <a:rPr lang="en-IN" sz="2800" spc="-55" dirty="0"/>
              <a:t>Statemen</a:t>
            </a:r>
            <a:endParaRPr lang="en-IN" altLang="en-US" sz="28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800" dirty="0"/>
              <a:t>Objectives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10" dirty="0"/>
              <a:t>Proposed </a:t>
            </a:r>
            <a:r>
              <a:rPr lang="en-IN" sz="2800" spc="-60" dirty="0"/>
              <a:t>Solution</a:t>
            </a:r>
            <a:endParaRPr lang="en-IN" altLang="en-US" sz="28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10" dirty="0">
                <a:uFill>
                  <a:solidFill>
                    <a:srgbClr val="573779"/>
                  </a:solidFill>
                </a:uFill>
              </a:rPr>
              <a:t>Modularization </a:t>
            </a:r>
            <a:r>
              <a:rPr lang="en-IN" sz="2800" spc="-25" dirty="0">
                <a:uFill>
                  <a:solidFill>
                    <a:srgbClr val="573779"/>
                  </a:solidFill>
                </a:uFill>
              </a:rPr>
              <a:t>of </a:t>
            </a:r>
            <a:r>
              <a:rPr lang="en-IN" sz="2800" spc="-10" dirty="0">
                <a:uFill>
                  <a:solidFill>
                    <a:srgbClr val="573779"/>
                  </a:solidFill>
                </a:uFill>
              </a:rPr>
              <a:t>Project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35" dirty="0">
                <a:uFill>
                  <a:solidFill>
                    <a:srgbClr val="573779"/>
                  </a:solidFill>
                </a:uFill>
              </a:rPr>
              <a:t>Key</a:t>
            </a:r>
            <a:r>
              <a:rPr lang="en-IN" sz="2800" spc="-315" dirty="0">
                <a:uFill>
                  <a:solidFill>
                    <a:srgbClr val="573779"/>
                  </a:solidFill>
                </a:uFill>
              </a:rPr>
              <a:t> </a:t>
            </a:r>
            <a:r>
              <a:rPr lang="en-IN" sz="2800" spc="-10" dirty="0">
                <a:uFill>
                  <a:solidFill>
                    <a:srgbClr val="573779"/>
                  </a:solidFill>
                </a:uFill>
              </a:rPr>
              <a:t>Features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55" dirty="0"/>
              <a:t>Data</a:t>
            </a:r>
            <a:r>
              <a:rPr lang="en-IN" sz="2800" spc="-195" dirty="0"/>
              <a:t> </a:t>
            </a:r>
            <a:r>
              <a:rPr lang="en-IN" sz="2800" spc="-105" dirty="0"/>
              <a:t>Preprocessing</a:t>
            </a:r>
            <a:r>
              <a:rPr lang="en-IN" sz="2800" spc="-100" dirty="0"/>
              <a:t> </a:t>
            </a:r>
            <a:r>
              <a:rPr lang="en-IN" sz="2800" spc="-400" dirty="0"/>
              <a:t>&amp;</a:t>
            </a:r>
            <a:r>
              <a:rPr lang="en-IN" sz="2800" spc="-5" dirty="0"/>
              <a:t> </a:t>
            </a:r>
            <a:r>
              <a:rPr lang="en-IN" sz="2800" spc="-105" dirty="0"/>
              <a:t>Feature</a:t>
            </a:r>
            <a:r>
              <a:rPr lang="en-IN" sz="2800" spc="-100" dirty="0"/>
              <a:t> </a:t>
            </a:r>
            <a:r>
              <a:rPr lang="en-IN" sz="2800" spc="-90" dirty="0"/>
              <a:t>Engineering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Design</a:t>
            </a:r>
            <a:r>
              <a:rPr lang="en-IN" sz="2800" spc="-290" dirty="0"/>
              <a:t> </a:t>
            </a:r>
            <a:r>
              <a:rPr lang="en-IN" sz="2800" spc="-35" dirty="0"/>
              <a:t>Methodology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35" dirty="0"/>
              <a:t>Project</a:t>
            </a:r>
            <a:r>
              <a:rPr lang="en-IN" sz="2800" spc="-340" dirty="0"/>
              <a:t> </a:t>
            </a:r>
            <a:r>
              <a:rPr lang="en-IN" sz="2800" spc="-90" dirty="0"/>
              <a:t>Demonstration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20" dirty="0"/>
              <a:t>Test Case </a:t>
            </a:r>
            <a:r>
              <a:rPr lang="en-IN" sz="2800" spc="-50" dirty="0"/>
              <a:t>Specifications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10" dirty="0"/>
              <a:t>System </a:t>
            </a:r>
            <a:r>
              <a:rPr lang="en-IN" sz="2800" spc="-135" dirty="0"/>
              <a:t>Architecture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70" dirty="0"/>
              <a:t>Results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110" dirty="0"/>
              <a:t>Conclusions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spc="-110" dirty="0"/>
              <a:t>Future Scoping</a:t>
            </a:r>
            <a:endParaRPr lang="en-IN" sz="2800" spc="-135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spc="-9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spc="-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3202" y="1962137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85644" y="873118"/>
            <a:ext cx="61461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4330" algn="l"/>
              </a:tabLst>
            </a:pPr>
            <a:r>
              <a:rPr spc="-10" dirty="0"/>
              <a:t>Problem</a:t>
            </a:r>
            <a:r>
              <a:rPr dirty="0"/>
              <a:t>	</a:t>
            </a:r>
            <a:r>
              <a:rPr spc="-55" dirty="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801" y="245713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801" y="3600139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801" y="474313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801" y="5886139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801" y="702913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801" y="8172139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75699" y="2098015"/>
            <a:ext cx="15396844" cy="6883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0"/>
              </a:spcBef>
              <a:tabLst>
                <a:tab pos="1297940" algn="l"/>
                <a:tab pos="2338705" algn="l"/>
                <a:tab pos="2879090" algn="l"/>
                <a:tab pos="4373880" algn="l"/>
                <a:tab pos="5843270" algn="l"/>
                <a:tab pos="6589395" algn="l"/>
                <a:tab pos="8666480" algn="l"/>
                <a:tab pos="10182860" algn="l"/>
                <a:tab pos="10633710" algn="l"/>
                <a:tab pos="12214225" algn="l"/>
                <a:tab pos="12938125" algn="l"/>
                <a:tab pos="15019655" algn="l"/>
              </a:tabLst>
            </a:pPr>
            <a:r>
              <a:rPr sz="3200" spc="8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rates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various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regions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increasing,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difficult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authorities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effective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monitoring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prevention.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1612265" algn="l"/>
                <a:tab pos="3117850" algn="l"/>
                <a:tab pos="4486275" algn="l"/>
                <a:tab pos="5311775" algn="l"/>
                <a:tab pos="5935980" algn="l"/>
                <a:tab pos="7732395" algn="l"/>
                <a:tab pos="8677275" algn="l"/>
                <a:tab pos="9506585" algn="l"/>
                <a:tab pos="10400665" algn="l"/>
                <a:tab pos="11114405" algn="l"/>
                <a:tab pos="12393295" algn="l"/>
                <a:tab pos="12927330" algn="l"/>
                <a:tab pos="14316710" algn="l"/>
              </a:tabLst>
            </a:pPr>
            <a:r>
              <a:rPr sz="3200" spc="5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mainly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rely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historical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lack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ability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predict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future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trends.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1188720" algn="l"/>
                <a:tab pos="1614805" algn="l"/>
                <a:tab pos="2225675" algn="l"/>
                <a:tab pos="3782695" algn="l"/>
                <a:tab pos="5904865" algn="l"/>
                <a:tab pos="6425565" algn="l"/>
                <a:tab pos="7917815" algn="l"/>
                <a:tab pos="9043035" algn="l"/>
                <a:tab pos="10539095" algn="l"/>
                <a:tab pos="11603355" algn="l"/>
                <a:tab pos="12098655" algn="l"/>
                <a:tab pos="13684885" algn="l"/>
                <a:tab pos="14364335" algn="l"/>
              </a:tabLst>
            </a:pPr>
            <a:r>
              <a:rPr sz="3200" spc="9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mechanism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identify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35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areas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advance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better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planning.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</a:pP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Traditional</a:t>
            </a:r>
            <a:r>
              <a:rPr sz="3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32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do</a:t>
            </a:r>
            <a:r>
              <a:rPr sz="3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2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32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geographical</a:t>
            </a:r>
            <a:r>
              <a:rPr sz="3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visualization,</a:t>
            </a:r>
            <a:r>
              <a:rPr sz="3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limiting</a:t>
            </a:r>
            <a:r>
              <a:rPr sz="3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understanding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distribution.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971550" algn="l"/>
                <a:tab pos="3325495" algn="l"/>
                <a:tab pos="4958080" algn="l"/>
                <a:tab pos="5844540" algn="l"/>
                <a:tab pos="7813675" algn="l"/>
                <a:tab pos="8336280" algn="l"/>
                <a:tab pos="9877425" algn="l"/>
                <a:tab pos="11529695" algn="l"/>
                <a:tab pos="13456285" algn="l"/>
                <a:tab pos="14299565" algn="l"/>
              </a:tabLst>
            </a:pPr>
            <a:r>
              <a:rPr sz="3200" spc="95" dirty="0">
                <a:latin typeface="Times New Roman" panose="02020603050405020304"/>
                <a:cs typeface="Times New Roman" panose="02020603050405020304"/>
              </a:rPr>
              <a:t>Law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enforcement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agencies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face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challenges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optimal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timely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decision-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making.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8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result,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preventive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measures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delayed,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affecting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overall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sz="32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safety</a:t>
            </a:r>
            <a:r>
              <a:rPr sz="32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security.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716369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84414" y="415925"/>
            <a:ext cx="33286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2833687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3395662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3957637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4519612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5081587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564356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6205537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55" y="6767511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9425" rIns="0" bIns="0" rtlCol="0">
            <a:spAutoFit/>
          </a:bodyPr>
          <a:lstStyle/>
          <a:p>
            <a:pPr marL="431800" marR="1101090">
              <a:lnSpc>
                <a:spcPct val="115000"/>
              </a:lnSpc>
              <a:spcBef>
                <a:spcPts val="100"/>
              </a:spcBef>
            </a:pPr>
            <a:r>
              <a:rPr sz="3200" spc="165" dirty="0"/>
              <a:t>To</a:t>
            </a:r>
            <a:r>
              <a:rPr sz="3200" spc="65" dirty="0"/>
              <a:t> </a:t>
            </a:r>
            <a:r>
              <a:rPr sz="3200" spc="50" dirty="0"/>
              <a:t>develop</a:t>
            </a:r>
            <a:r>
              <a:rPr sz="3200" spc="65" dirty="0"/>
              <a:t> </a:t>
            </a:r>
            <a:r>
              <a:rPr sz="3200" spc="170" dirty="0"/>
              <a:t>a</a:t>
            </a:r>
            <a:r>
              <a:rPr sz="3200" spc="65" dirty="0"/>
              <a:t> </a:t>
            </a:r>
            <a:r>
              <a:rPr sz="3200" dirty="0"/>
              <a:t>system</a:t>
            </a:r>
            <a:r>
              <a:rPr sz="3200" spc="65" dirty="0"/>
              <a:t> </a:t>
            </a:r>
            <a:r>
              <a:rPr sz="3200" spc="165" dirty="0"/>
              <a:t>that</a:t>
            </a:r>
            <a:r>
              <a:rPr sz="3200" spc="65" dirty="0"/>
              <a:t> </a:t>
            </a:r>
            <a:r>
              <a:rPr sz="3200" dirty="0"/>
              <a:t>analyzes</a:t>
            </a:r>
            <a:r>
              <a:rPr sz="3200" spc="70" dirty="0"/>
              <a:t> </a:t>
            </a:r>
            <a:r>
              <a:rPr sz="3200" spc="65" dirty="0"/>
              <a:t>historical </a:t>
            </a:r>
            <a:r>
              <a:rPr sz="3200" dirty="0"/>
              <a:t>crime</a:t>
            </a:r>
            <a:r>
              <a:rPr sz="3200" spc="65" dirty="0"/>
              <a:t> </a:t>
            </a:r>
            <a:r>
              <a:rPr sz="3200" spc="165" dirty="0"/>
              <a:t>data</a:t>
            </a:r>
            <a:r>
              <a:rPr sz="3200" spc="70" dirty="0"/>
              <a:t> </a:t>
            </a:r>
            <a:r>
              <a:rPr sz="3200" spc="100" dirty="0"/>
              <a:t>for</a:t>
            </a:r>
            <a:r>
              <a:rPr sz="3200" spc="70" dirty="0"/>
              <a:t> </a:t>
            </a:r>
            <a:r>
              <a:rPr sz="3200" spc="135" dirty="0"/>
              <a:t>pattern</a:t>
            </a:r>
            <a:r>
              <a:rPr sz="3200" spc="65" dirty="0"/>
              <a:t> </a:t>
            </a:r>
            <a:r>
              <a:rPr sz="3200" spc="55" dirty="0"/>
              <a:t>identification. </a:t>
            </a:r>
            <a:r>
              <a:rPr sz="3200" spc="165" dirty="0"/>
              <a:t>To</a:t>
            </a:r>
            <a:r>
              <a:rPr sz="3200" spc="55" dirty="0"/>
              <a:t> </a:t>
            </a:r>
            <a:r>
              <a:rPr sz="3200" spc="75" dirty="0"/>
              <a:t>predict</a:t>
            </a:r>
            <a:r>
              <a:rPr sz="3200" spc="60" dirty="0"/>
              <a:t> </a:t>
            </a:r>
            <a:r>
              <a:rPr sz="3200" spc="100" dirty="0"/>
              <a:t>future</a:t>
            </a:r>
            <a:r>
              <a:rPr sz="3200" spc="60" dirty="0"/>
              <a:t> </a:t>
            </a:r>
            <a:r>
              <a:rPr sz="3200" dirty="0"/>
              <a:t>crime</a:t>
            </a:r>
            <a:r>
              <a:rPr sz="3200" spc="55" dirty="0"/>
              <a:t> </a:t>
            </a:r>
            <a:r>
              <a:rPr sz="3200" spc="50" dirty="0"/>
              <a:t>occurrences</a:t>
            </a:r>
            <a:r>
              <a:rPr sz="3200" spc="60" dirty="0"/>
              <a:t> </a:t>
            </a:r>
            <a:r>
              <a:rPr sz="3200" dirty="0"/>
              <a:t>using</a:t>
            </a:r>
            <a:r>
              <a:rPr sz="3200" spc="60" dirty="0"/>
              <a:t> </a:t>
            </a:r>
            <a:r>
              <a:rPr sz="3200" spc="70" dirty="0"/>
              <a:t>machine</a:t>
            </a:r>
            <a:r>
              <a:rPr sz="3200" spc="55" dirty="0"/>
              <a:t> </a:t>
            </a:r>
            <a:r>
              <a:rPr sz="3200" spc="65" dirty="0"/>
              <a:t>learning</a:t>
            </a:r>
            <a:r>
              <a:rPr sz="3200" spc="60" dirty="0"/>
              <a:t> </a:t>
            </a:r>
            <a:r>
              <a:rPr sz="3200" spc="50" dirty="0"/>
              <a:t>techniques.</a:t>
            </a:r>
            <a:endParaRPr sz="3200"/>
          </a:p>
          <a:p>
            <a:pPr marL="431800" marR="5080">
              <a:lnSpc>
                <a:spcPct val="115000"/>
              </a:lnSpc>
            </a:pPr>
            <a:r>
              <a:rPr sz="3200" spc="165" dirty="0"/>
              <a:t>To</a:t>
            </a:r>
            <a:r>
              <a:rPr sz="3200" spc="40" dirty="0"/>
              <a:t> </a:t>
            </a:r>
            <a:r>
              <a:rPr sz="3200" dirty="0"/>
              <a:t>classify</a:t>
            </a:r>
            <a:r>
              <a:rPr sz="3200" spc="40" dirty="0"/>
              <a:t> </a:t>
            </a:r>
            <a:r>
              <a:rPr sz="3200" spc="50" dirty="0"/>
              <a:t>regions</a:t>
            </a:r>
            <a:r>
              <a:rPr sz="3200" spc="40" dirty="0"/>
              <a:t> </a:t>
            </a:r>
            <a:r>
              <a:rPr sz="3200" spc="110" dirty="0"/>
              <a:t>into</a:t>
            </a:r>
            <a:r>
              <a:rPr sz="3200" spc="40" dirty="0"/>
              <a:t> </a:t>
            </a:r>
            <a:r>
              <a:rPr sz="3200" spc="95" dirty="0"/>
              <a:t>High,</a:t>
            </a:r>
            <a:r>
              <a:rPr sz="3200" spc="45" dirty="0"/>
              <a:t> </a:t>
            </a:r>
            <a:r>
              <a:rPr sz="3200" spc="105" dirty="0"/>
              <a:t>Medium,</a:t>
            </a:r>
            <a:r>
              <a:rPr sz="3200" spc="40" dirty="0"/>
              <a:t> </a:t>
            </a:r>
            <a:r>
              <a:rPr sz="3200" spc="160" dirty="0"/>
              <a:t>and</a:t>
            </a:r>
            <a:r>
              <a:rPr sz="3200" spc="40" dirty="0"/>
              <a:t> </a:t>
            </a:r>
            <a:r>
              <a:rPr sz="3200" spc="100" dirty="0"/>
              <a:t>Low</a:t>
            </a:r>
            <a:r>
              <a:rPr sz="3200" spc="40" dirty="0"/>
              <a:t> </a:t>
            </a:r>
            <a:r>
              <a:rPr sz="3200" spc="60" dirty="0"/>
              <a:t>risk</a:t>
            </a:r>
            <a:r>
              <a:rPr sz="3200" spc="45" dirty="0"/>
              <a:t> </a:t>
            </a:r>
            <a:r>
              <a:rPr sz="3200" dirty="0"/>
              <a:t>zones</a:t>
            </a:r>
            <a:r>
              <a:rPr sz="3200" spc="40" dirty="0"/>
              <a:t> </a:t>
            </a:r>
            <a:r>
              <a:rPr sz="3200" dirty="0"/>
              <a:t>using</a:t>
            </a:r>
            <a:r>
              <a:rPr sz="3200" spc="40" dirty="0"/>
              <a:t> </a:t>
            </a:r>
            <a:r>
              <a:rPr sz="3200" spc="45" dirty="0"/>
              <a:t>clustering</a:t>
            </a:r>
            <a:r>
              <a:rPr sz="3200" spc="40" dirty="0"/>
              <a:t> </a:t>
            </a:r>
            <a:r>
              <a:rPr sz="3200" spc="70" dirty="0"/>
              <a:t>algorithms. </a:t>
            </a:r>
            <a:r>
              <a:rPr sz="3200" spc="165" dirty="0"/>
              <a:t>To</a:t>
            </a:r>
            <a:r>
              <a:rPr sz="3200" spc="40" dirty="0"/>
              <a:t> </a:t>
            </a:r>
            <a:r>
              <a:rPr sz="3200" spc="80" dirty="0"/>
              <a:t>integrate</a:t>
            </a:r>
            <a:r>
              <a:rPr sz="3200" spc="45" dirty="0"/>
              <a:t> </a:t>
            </a:r>
            <a:r>
              <a:rPr sz="3200" spc="160" dirty="0"/>
              <a:t>both</a:t>
            </a:r>
            <a:r>
              <a:rPr sz="3200" spc="40" dirty="0"/>
              <a:t> </a:t>
            </a:r>
            <a:r>
              <a:rPr sz="3200" dirty="0"/>
              <a:t>crime</a:t>
            </a:r>
            <a:r>
              <a:rPr sz="3200" spc="45" dirty="0"/>
              <a:t> </a:t>
            </a:r>
            <a:r>
              <a:rPr sz="3200" spc="55" dirty="0"/>
              <a:t>density</a:t>
            </a:r>
            <a:r>
              <a:rPr sz="3200" spc="40" dirty="0"/>
              <a:t> </a:t>
            </a:r>
            <a:r>
              <a:rPr sz="3200" spc="160" dirty="0"/>
              <a:t>and</a:t>
            </a:r>
            <a:r>
              <a:rPr sz="3200" spc="40" dirty="0"/>
              <a:t> </a:t>
            </a:r>
            <a:r>
              <a:rPr sz="3200" dirty="0"/>
              <a:t>severity</a:t>
            </a:r>
            <a:r>
              <a:rPr sz="3200" spc="45" dirty="0"/>
              <a:t> </a:t>
            </a:r>
            <a:r>
              <a:rPr sz="3200" spc="100" dirty="0"/>
              <a:t>for</a:t>
            </a:r>
            <a:r>
              <a:rPr sz="3200" spc="40" dirty="0"/>
              <a:t> </a:t>
            </a:r>
            <a:r>
              <a:rPr sz="3200" spc="85" dirty="0"/>
              <a:t>accurate</a:t>
            </a:r>
            <a:r>
              <a:rPr sz="3200" spc="40" dirty="0"/>
              <a:t> </a:t>
            </a:r>
            <a:r>
              <a:rPr sz="3200" spc="130" dirty="0"/>
              <a:t>hotspot</a:t>
            </a:r>
            <a:r>
              <a:rPr sz="3200" spc="40" dirty="0"/>
              <a:t> </a:t>
            </a:r>
            <a:r>
              <a:rPr sz="3200" spc="60" dirty="0"/>
              <a:t>detection.</a:t>
            </a:r>
            <a:endParaRPr sz="3200"/>
          </a:p>
          <a:p>
            <a:pPr marL="431800" marR="1125220">
              <a:lnSpc>
                <a:spcPct val="115000"/>
              </a:lnSpc>
              <a:spcBef>
                <a:spcPts val="5"/>
              </a:spcBef>
            </a:pPr>
            <a:r>
              <a:rPr sz="3200" spc="165" dirty="0"/>
              <a:t>To</a:t>
            </a:r>
            <a:r>
              <a:rPr sz="3200" spc="50" dirty="0"/>
              <a:t> </a:t>
            </a:r>
            <a:r>
              <a:rPr sz="3200" dirty="0"/>
              <a:t>visualize</a:t>
            </a:r>
            <a:r>
              <a:rPr sz="3200" spc="55" dirty="0"/>
              <a:t> </a:t>
            </a:r>
            <a:r>
              <a:rPr sz="3200" dirty="0"/>
              <a:t>crime-</a:t>
            </a:r>
            <a:r>
              <a:rPr sz="3200" spc="114" dirty="0"/>
              <a:t>prone</a:t>
            </a:r>
            <a:r>
              <a:rPr sz="3200" spc="55" dirty="0"/>
              <a:t> </a:t>
            </a:r>
            <a:r>
              <a:rPr sz="3200" spc="85" dirty="0"/>
              <a:t>areas</a:t>
            </a:r>
            <a:r>
              <a:rPr sz="3200" spc="55" dirty="0"/>
              <a:t> </a:t>
            </a:r>
            <a:r>
              <a:rPr sz="3200" dirty="0"/>
              <a:t>using</a:t>
            </a:r>
            <a:r>
              <a:rPr sz="3200" spc="55" dirty="0"/>
              <a:t> </a:t>
            </a:r>
            <a:r>
              <a:rPr sz="3200" spc="160" dirty="0"/>
              <a:t>an</a:t>
            </a:r>
            <a:r>
              <a:rPr sz="3200" spc="50" dirty="0"/>
              <a:t> </a:t>
            </a:r>
            <a:r>
              <a:rPr sz="3200" spc="55" dirty="0"/>
              <a:t>interactive </a:t>
            </a:r>
            <a:r>
              <a:rPr sz="3200" spc="145" dirty="0"/>
              <a:t>map</a:t>
            </a:r>
            <a:r>
              <a:rPr sz="3200" spc="55" dirty="0"/>
              <a:t> </a:t>
            </a:r>
            <a:r>
              <a:rPr sz="3200" spc="50" dirty="0"/>
              <a:t>(Leaflet</a:t>
            </a:r>
            <a:r>
              <a:rPr sz="3200" spc="55" dirty="0"/>
              <a:t> </a:t>
            </a:r>
            <a:r>
              <a:rPr sz="3200" dirty="0"/>
              <a:t>/</a:t>
            </a:r>
            <a:r>
              <a:rPr sz="3200" spc="55" dirty="0"/>
              <a:t> </a:t>
            </a:r>
            <a:r>
              <a:rPr sz="3200" spc="90" dirty="0"/>
              <a:t>Google</a:t>
            </a:r>
            <a:r>
              <a:rPr sz="3200" spc="50" dirty="0"/>
              <a:t> </a:t>
            </a:r>
            <a:r>
              <a:rPr sz="3200" spc="95" dirty="0"/>
              <a:t>Maps). </a:t>
            </a:r>
            <a:r>
              <a:rPr sz="3200" spc="165" dirty="0"/>
              <a:t>To</a:t>
            </a:r>
            <a:r>
              <a:rPr sz="3200" spc="10" dirty="0"/>
              <a:t> </a:t>
            </a:r>
            <a:r>
              <a:rPr sz="3200" spc="70" dirty="0"/>
              <a:t>represent</a:t>
            </a:r>
            <a:r>
              <a:rPr sz="3200" spc="15" dirty="0"/>
              <a:t> </a:t>
            </a:r>
            <a:r>
              <a:rPr sz="3200" spc="165" dirty="0"/>
              <a:t>data</a:t>
            </a:r>
            <a:r>
              <a:rPr sz="3200" spc="10" dirty="0"/>
              <a:t> </a:t>
            </a:r>
            <a:r>
              <a:rPr sz="3200" spc="60" dirty="0"/>
              <a:t>in</a:t>
            </a:r>
            <a:r>
              <a:rPr sz="3200" spc="15" dirty="0"/>
              <a:t> </a:t>
            </a:r>
            <a:r>
              <a:rPr sz="3200" spc="170" dirty="0"/>
              <a:t>a</a:t>
            </a:r>
            <a:r>
              <a:rPr sz="3200" spc="10" dirty="0"/>
              <a:t> </a:t>
            </a:r>
            <a:r>
              <a:rPr sz="3200" spc="60" dirty="0"/>
              <a:t>hierarchical</a:t>
            </a:r>
            <a:r>
              <a:rPr sz="3200" spc="15" dirty="0"/>
              <a:t> </a:t>
            </a:r>
            <a:r>
              <a:rPr sz="3200" spc="95" dirty="0"/>
              <a:t>structure</a:t>
            </a:r>
            <a:r>
              <a:rPr sz="3200" spc="10" dirty="0"/>
              <a:t> </a:t>
            </a:r>
            <a:r>
              <a:rPr sz="3200" spc="75" dirty="0"/>
              <a:t>(State</a:t>
            </a:r>
            <a:r>
              <a:rPr sz="3200" spc="15" dirty="0"/>
              <a:t> </a:t>
            </a:r>
            <a:r>
              <a:rPr sz="1500" spc="17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spc="3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100" dirty="0"/>
              <a:t>Risk</a:t>
            </a:r>
            <a:r>
              <a:rPr sz="3200" spc="15" dirty="0"/>
              <a:t> </a:t>
            </a:r>
            <a:r>
              <a:rPr sz="3200" dirty="0"/>
              <a:t>Level</a:t>
            </a:r>
            <a:r>
              <a:rPr sz="3200" spc="10" dirty="0"/>
              <a:t> </a:t>
            </a:r>
            <a:r>
              <a:rPr sz="1500" spc="17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spc="3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60" dirty="0"/>
              <a:t>District).</a:t>
            </a:r>
            <a:endParaRPr sz="3200">
              <a:latin typeface="Lucida Sans Unicode" panose="020B0602030504020204"/>
              <a:cs typeface="Lucida Sans Unicode" panose="020B0602030504020204"/>
            </a:endParaRPr>
          </a:p>
          <a:p>
            <a:pPr marL="431800" marR="2514600">
              <a:lnSpc>
                <a:spcPct val="115000"/>
              </a:lnSpc>
            </a:pPr>
            <a:r>
              <a:rPr sz="3200" spc="165" dirty="0"/>
              <a:t>To</a:t>
            </a:r>
            <a:r>
              <a:rPr sz="3200" spc="85" dirty="0"/>
              <a:t> </a:t>
            </a:r>
            <a:r>
              <a:rPr sz="3200" dirty="0"/>
              <a:t>assist</a:t>
            </a:r>
            <a:r>
              <a:rPr sz="3200" spc="90" dirty="0"/>
              <a:t> authorities</a:t>
            </a:r>
            <a:r>
              <a:rPr sz="3200" spc="85" dirty="0"/>
              <a:t> </a:t>
            </a:r>
            <a:r>
              <a:rPr sz="3200" spc="60" dirty="0"/>
              <a:t>in</a:t>
            </a:r>
            <a:r>
              <a:rPr sz="3200" spc="90" dirty="0"/>
              <a:t> </a:t>
            </a:r>
            <a:r>
              <a:rPr sz="3200" dirty="0"/>
              <a:t>efficient</a:t>
            </a:r>
            <a:r>
              <a:rPr sz="3200" spc="90" dirty="0"/>
              <a:t> </a:t>
            </a:r>
            <a:r>
              <a:rPr sz="3200" dirty="0"/>
              <a:t>decision-</a:t>
            </a:r>
            <a:r>
              <a:rPr sz="3200" spc="90" dirty="0"/>
              <a:t>making</a:t>
            </a:r>
            <a:r>
              <a:rPr sz="3200" spc="85" dirty="0"/>
              <a:t> </a:t>
            </a:r>
            <a:r>
              <a:rPr sz="3200" spc="160" dirty="0"/>
              <a:t>and</a:t>
            </a:r>
            <a:r>
              <a:rPr sz="3200" spc="90" dirty="0"/>
              <a:t> </a:t>
            </a:r>
            <a:r>
              <a:rPr sz="3200" spc="60" dirty="0"/>
              <a:t>resource</a:t>
            </a:r>
            <a:r>
              <a:rPr sz="3200" spc="90" dirty="0"/>
              <a:t> </a:t>
            </a:r>
            <a:r>
              <a:rPr sz="3200" spc="70" dirty="0"/>
              <a:t>allocation. </a:t>
            </a:r>
            <a:r>
              <a:rPr sz="3200" spc="165" dirty="0"/>
              <a:t>To</a:t>
            </a:r>
            <a:r>
              <a:rPr sz="3200" spc="35" dirty="0"/>
              <a:t> </a:t>
            </a:r>
            <a:r>
              <a:rPr sz="3200" spc="60" dirty="0"/>
              <a:t>enable</a:t>
            </a:r>
            <a:r>
              <a:rPr sz="3200" spc="35" dirty="0"/>
              <a:t> </a:t>
            </a:r>
            <a:r>
              <a:rPr sz="3200" spc="75" dirty="0"/>
              <a:t>proactive</a:t>
            </a:r>
            <a:r>
              <a:rPr sz="3200" spc="35" dirty="0"/>
              <a:t> </a:t>
            </a:r>
            <a:r>
              <a:rPr sz="3200" dirty="0"/>
              <a:t>crime</a:t>
            </a:r>
            <a:r>
              <a:rPr sz="3200" spc="35" dirty="0"/>
              <a:t> </a:t>
            </a:r>
            <a:r>
              <a:rPr sz="3200" spc="80" dirty="0"/>
              <a:t>prevention</a:t>
            </a:r>
            <a:r>
              <a:rPr sz="3200" spc="35" dirty="0"/>
              <a:t> </a:t>
            </a:r>
            <a:r>
              <a:rPr sz="3200" spc="160" dirty="0"/>
              <a:t>and</a:t>
            </a:r>
            <a:r>
              <a:rPr sz="3200" spc="35" dirty="0"/>
              <a:t> </a:t>
            </a:r>
            <a:r>
              <a:rPr sz="3200" spc="70" dirty="0"/>
              <a:t>improve</a:t>
            </a:r>
            <a:r>
              <a:rPr sz="3200" spc="35" dirty="0"/>
              <a:t> </a:t>
            </a:r>
            <a:r>
              <a:rPr sz="3200" spc="60" dirty="0"/>
              <a:t>public</a:t>
            </a:r>
            <a:r>
              <a:rPr sz="3200" spc="35" dirty="0"/>
              <a:t> safety.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5022" y="123294"/>
            <a:ext cx="6854177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37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6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293897" y="1212313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1555114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267906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436498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5488939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661288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7736839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252" y="8860789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10263" y="1204582"/>
            <a:ext cx="14885035" cy="845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7545">
              <a:lnSpc>
                <a:spcPct val="115000"/>
              </a:lnSpc>
              <a:spcBef>
                <a:spcPts val="100"/>
              </a:spcBef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predict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trends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historical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153670">
              <a:lnSpc>
                <a:spcPct val="115000"/>
              </a:lnSpc>
            </a:pPr>
            <a:r>
              <a:rPr sz="3200" spc="85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risk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assessment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combining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clustering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(relative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analysis)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absolute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thresholds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regions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High,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Medium,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levels.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131445">
              <a:lnSpc>
                <a:spcPct val="115000"/>
              </a:lnSpc>
              <a:spcBef>
                <a:spcPts val="5"/>
              </a:spcBef>
            </a:pPr>
            <a:r>
              <a:rPr sz="3200" spc="80" dirty="0">
                <a:latin typeface="Times New Roman" panose="02020603050405020304"/>
                <a:cs typeface="Times New Roman" panose="02020603050405020304"/>
              </a:rPr>
              <a:t>Apply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(Random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5" dirty="0">
                <a:latin typeface="Times New Roman" panose="02020603050405020304"/>
                <a:cs typeface="Times New Roman" panose="02020603050405020304"/>
              </a:rPr>
              <a:t>Forest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Regression)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forecast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crime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occurrences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past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trends.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719455">
              <a:lnSpc>
                <a:spcPct val="115000"/>
              </a:lnSpc>
            </a:pPr>
            <a:r>
              <a:rPr sz="3200" spc="95" dirty="0">
                <a:latin typeface="Times New Roman" panose="02020603050405020304"/>
                <a:cs typeface="Times New Roman" panose="02020603050405020304"/>
              </a:rPr>
              <a:t>Perform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lag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rolling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averages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capture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crime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patterns</a:t>
            </a:r>
            <a:r>
              <a:rPr sz="3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over</a:t>
            </a:r>
            <a:r>
              <a:rPr sz="3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time.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194310">
              <a:lnSpc>
                <a:spcPct val="115000"/>
              </a:lnSpc>
            </a:pP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geographical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Leaflet/Google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Maps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color-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coded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markers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identification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hotspots.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</a:pPr>
            <a:r>
              <a:rPr sz="3200" spc="55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structure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(India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17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spc="3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State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17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spc="3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17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spc="3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District)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clear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organized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representation.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681355">
              <a:lnSpc>
                <a:spcPct val="115000"/>
              </a:lnSpc>
              <a:spcBef>
                <a:spcPts val="5"/>
              </a:spcBef>
            </a:pPr>
            <a:r>
              <a:rPr sz="3200" spc="95" dirty="0">
                <a:latin typeface="Times New Roman" panose="02020603050405020304"/>
                <a:cs typeface="Times New Roman" panose="02020603050405020304"/>
              </a:rPr>
              <a:t>Enable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authorities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take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data-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decisions,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optimize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allocation,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prevention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strategies.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1796407"/>
            <a:ext cx="95250" cy="9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2377432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3539482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4120507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5282557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5863582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7025632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818768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8768707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9930757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53333" y="848353"/>
            <a:ext cx="16471265" cy="932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9420" marR="8949055" indent="-427355">
              <a:lnSpc>
                <a:spcPct val="116000"/>
              </a:lnSpc>
              <a:spcBef>
                <a:spcPts val="100"/>
              </a:spcBef>
              <a:buFont typeface="Times New Roman" panose="02020603050405020304"/>
              <a:buAutoNum type="arabicPeriod"/>
              <a:tabLst>
                <a:tab pos="725170" algn="l"/>
              </a:tabLst>
            </a:pP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5" dirty="0">
                <a:latin typeface="Times New Roman" panose="02020603050405020304"/>
                <a:cs typeface="Times New Roman" panose="02020603050405020304"/>
              </a:rPr>
              <a:t>Module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(React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Vite) 	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Handles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interaction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725170">
              <a:lnSpc>
                <a:spcPct val="100000"/>
              </a:lnSpc>
              <a:spcBef>
                <a:spcPts val="615"/>
              </a:spcBef>
            </a:pPr>
            <a:r>
              <a:rPr sz="3300" spc="65" dirty="0">
                <a:latin typeface="Times New Roman" panose="02020603050405020304"/>
                <a:cs typeface="Times New Roman" panose="02020603050405020304"/>
              </a:rPr>
              <a:t>Includes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components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for: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220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(Leaflet),Risk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tree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display,User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forms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439420" marR="8404225" indent="-427355">
              <a:lnSpc>
                <a:spcPct val="116000"/>
              </a:lnSpc>
              <a:buAutoNum type="arabicPeriod" startAt="2"/>
              <a:tabLst>
                <a:tab pos="725170" algn="l"/>
              </a:tabLst>
            </a:pPr>
            <a:r>
              <a:rPr sz="3300" spc="85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5" dirty="0">
                <a:latin typeface="Times New Roman" panose="02020603050405020304"/>
                <a:cs typeface="Times New Roman" panose="02020603050405020304"/>
              </a:rPr>
              <a:t>Module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(Flask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Python) 	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Manages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50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requests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business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logic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725170">
              <a:lnSpc>
                <a:spcPct val="100000"/>
              </a:lnSpc>
              <a:spcBef>
                <a:spcPts val="615"/>
              </a:spcBef>
            </a:pPr>
            <a:r>
              <a:rPr sz="3300" spc="90" dirty="0">
                <a:latin typeface="Times New Roman" panose="02020603050405020304"/>
                <a:cs typeface="Times New Roman" panose="02020603050405020304"/>
              </a:rPr>
              <a:t>Connects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50" dirty="0">
                <a:latin typeface="Times New Roman" panose="02020603050405020304"/>
                <a:cs typeface="Times New Roman" panose="02020603050405020304"/>
              </a:rPr>
              <a:t>data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440055" indent="-427355">
              <a:lnSpc>
                <a:spcPct val="100000"/>
              </a:lnSpc>
              <a:spcBef>
                <a:spcPts val="615"/>
              </a:spcBef>
              <a:buAutoNum type="arabicPeriod" startAt="3"/>
              <a:tabLst>
                <a:tab pos="440055" algn="l"/>
              </a:tabLst>
            </a:pP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725170">
              <a:lnSpc>
                <a:spcPct val="100000"/>
              </a:lnSpc>
              <a:spcBef>
                <a:spcPts val="615"/>
              </a:spcBef>
            </a:pPr>
            <a:r>
              <a:rPr sz="3300" spc="85" dirty="0">
                <a:latin typeface="Times New Roman" panose="02020603050405020304"/>
                <a:cs typeface="Times New Roman" panose="02020603050405020304"/>
              </a:rPr>
              <a:t>Performs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detection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725170">
              <a:lnSpc>
                <a:spcPct val="100000"/>
              </a:lnSpc>
              <a:spcBef>
                <a:spcPts val="615"/>
              </a:spcBef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Uses: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5" dirty="0">
                <a:latin typeface="Times New Roman" panose="02020603050405020304"/>
                <a:cs typeface="Times New Roman" panose="02020603050405020304"/>
              </a:rPr>
              <a:t>Random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Forest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(prediction)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4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(risk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classification)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439420" marR="118745" indent="-427355">
              <a:lnSpc>
                <a:spcPct val="116000"/>
              </a:lnSpc>
              <a:buAutoNum type="arabicPeriod" startAt="4"/>
              <a:tabLst>
                <a:tab pos="725170" algn="l"/>
              </a:tabLst>
            </a:pPr>
            <a:r>
              <a:rPr sz="3300" spc="21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Module: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Handles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cleaning,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transformation,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engineering 	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Prepares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historical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training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440055" indent="-427355">
              <a:lnSpc>
                <a:spcPct val="100000"/>
              </a:lnSpc>
              <a:spcBef>
                <a:spcPts val="615"/>
              </a:spcBef>
              <a:buAutoNum type="arabicPeriod" startAt="4"/>
              <a:tabLst>
                <a:tab pos="440055" algn="l"/>
              </a:tabLst>
            </a:pPr>
            <a:r>
              <a:rPr sz="3300" spc="65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33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725170" marR="5885815">
              <a:lnSpc>
                <a:spcPct val="116000"/>
              </a:lnSpc>
              <a:spcBef>
                <a:spcPts val="5"/>
              </a:spcBef>
            </a:pPr>
            <a:r>
              <a:rPr sz="3300" spc="7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maps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views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Displays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intuitive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user-friendly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format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440055" indent="-427355">
              <a:lnSpc>
                <a:spcPct val="100000"/>
              </a:lnSpc>
              <a:spcBef>
                <a:spcPts val="615"/>
              </a:spcBef>
              <a:buAutoNum type="arabicPeriod" startAt="6"/>
              <a:tabLst>
                <a:tab pos="440055" algn="l"/>
              </a:tabLst>
            </a:pP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Database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21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725170">
              <a:lnSpc>
                <a:spcPct val="100000"/>
              </a:lnSpc>
              <a:spcBef>
                <a:spcPts val="615"/>
              </a:spcBef>
            </a:pPr>
            <a:r>
              <a:rPr sz="3300" spc="70" dirty="0">
                <a:latin typeface="Times New Roman" panose="02020603050405020304"/>
                <a:cs typeface="Times New Roman" panose="02020603050405020304"/>
              </a:rPr>
              <a:t>Stores</a:t>
            </a:r>
            <a:r>
              <a:rPr sz="33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datasets,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3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files,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33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(coordinates)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686378" y="-155581"/>
            <a:ext cx="117259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3380" algn="l"/>
                <a:tab pos="6755130" algn="l"/>
                <a:tab pos="7580630" algn="l"/>
                <a:tab pos="11712575" algn="l"/>
              </a:tabLst>
            </a:pPr>
            <a:r>
              <a:rPr b="0" u="sng" dirty="0">
                <a:uFill>
                  <a:solidFill>
                    <a:srgbClr val="57377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u="sng" spc="-10" dirty="0">
                <a:uFill>
                  <a:solidFill>
                    <a:srgbClr val="573779"/>
                  </a:solidFill>
                </a:uFill>
              </a:rPr>
              <a:t>Modularization</a:t>
            </a:r>
            <a:r>
              <a:rPr u="sng" dirty="0">
                <a:uFill>
                  <a:solidFill>
                    <a:srgbClr val="573779"/>
                  </a:solidFill>
                </a:uFill>
              </a:rPr>
              <a:t>	</a:t>
            </a:r>
            <a:r>
              <a:rPr u="sng" spc="-25" dirty="0">
                <a:uFill>
                  <a:solidFill>
                    <a:srgbClr val="573779"/>
                  </a:solidFill>
                </a:uFill>
              </a:rPr>
              <a:t>of</a:t>
            </a:r>
            <a:r>
              <a:rPr u="sng" dirty="0">
                <a:uFill>
                  <a:solidFill>
                    <a:srgbClr val="573779"/>
                  </a:solidFill>
                </a:uFill>
              </a:rPr>
              <a:t>	</a:t>
            </a:r>
            <a:r>
              <a:rPr u="sng" spc="-10" dirty="0">
                <a:uFill>
                  <a:solidFill>
                    <a:srgbClr val="573779"/>
                  </a:solidFill>
                </a:uFill>
              </a:rPr>
              <a:t>Project</a:t>
            </a:r>
            <a:r>
              <a:rPr u="sng" dirty="0">
                <a:uFill>
                  <a:solidFill>
                    <a:srgbClr val="573779"/>
                  </a:solidFill>
                </a:uFill>
              </a:rPr>
              <a:t>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6378" y="92066"/>
            <a:ext cx="11725910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709035" algn="l"/>
                <a:tab pos="11712575" algn="l"/>
              </a:tabLst>
            </a:pPr>
            <a:r>
              <a:rPr sz="5850" b="0" u="sng" dirty="0">
                <a:uFill>
                  <a:solidFill>
                    <a:srgbClr val="57377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5850" u="sng" spc="-35" dirty="0">
                <a:uFill>
                  <a:solidFill>
                    <a:srgbClr val="573779"/>
                  </a:solidFill>
                </a:uFill>
              </a:rPr>
              <a:t>Key</a:t>
            </a:r>
            <a:r>
              <a:rPr sz="5850" u="sng" spc="-315" dirty="0">
                <a:uFill>
                  <a:solidFill>
                    <a:srgbClr val="573779"/>
                  </a:solidFill>
                </a:uFill>
              </a:rPr>
              <a:t> </a:t>
            </a:r>
            <a:r>
              <a:rPr sz="5850" u="sng" spc="-10" dirty="0">
                <a:uFill>
                  <a:solidFill>
                    <a:srgbClr val="573779"/>
                  </a:solidFill>
                </a:uFill>
              </a:rPr>
              <a:t>Features</a:t>
            </a:r>
            <a:r>
              <a:rPr sz="5850" u="sng" dirty="0">
                <a:uFill>
                  <a:solidFill>
                    <a:srgbClr val="573779"/>
                  </a:solidFill>
                </a:uFill>
              </a:rPr>
              <a:t>	</a:t>
            </a:r>
            <a:endParaRPr sz="585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1568732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2149757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3311807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3892832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5054882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63589" y="1201702"/>
            <a:ext cx="15869285" cy="46736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300" b="1" spc="-20" dirty="0">
                <a:latin typeface="Times New Roman" panose="02020603050405020304"/>
                <a:cs typeface="Times New Roman" panose="02020603050405020304"/>
              </a:rPr>
              <a:t>Spatio-</a:t>
            </a:r>
            <a:r>
              <a:rPr sz="3300" b="1" spc="-75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33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3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Mapping: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indent="219075">
              <a:lnSpc>
                <a:spcPct val="116000"/>
              </a:lnSpc>
              <a:tabLst>
                <a:tab pos="2367280" algn="l"/>
                <a:tab pos="3835400" algn="l"/>
                <a:tab pos="4839970" algn="l"/>
                <a:tab pos="5845175" algn="l"/>
                <a:tab pos="7653655" algn="l"/>
                <a:tab pos="9399905" algn="l"/>
                <a:tab pos="10290810" algn="l"/>
                <a:tab pos="12632055" algn="l"/>
                <a:tab pos="13519150" algn="l"/>
                <a:tab pos="14703425" algn="l"/>
              </a:tabLst>
            </a:pPr>
            <a:r>
              <a:rPr sz="3300" spc="70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Leaflet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hotspots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color-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coded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levels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(High,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Medium,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Low)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along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detailed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district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information.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spc="-45" dirty="0">
                <a:latin typeface="Times New Roman" panose="02020603050405020304"/>
                <a:cs typeface="Times New Roman" panose="02020603050405020304"/>
              </a:rPr>
              <a:t>Predictive</a:t>
            </a:r>
            <a:r>
              <a:rPr sz="33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75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Forecasting: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indent="113665">
              <a:lnSpc>
                <a:spcPct val="116000"/>
              </a:lnSpc>
            </a:pPr>
            <a:r>
              <a:rPr sz="3300" spc="55" dirty="0">
                <a:latin typeface="Times New Roman" panose="02020603050405020304"/>
                <a:cs typeface="Times New Roman" panose="02020603050405020304"/>
              </a:rPr>
              <a:t>Uses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5" dirty="0">
                <a:latin typeface="Times New Roman" panose="02020603050405020304"/>
                <a:cs typeface="Times New Roman" panose="02020603050405020304"/>
              </a:rPr>
              <a:t>Random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Forest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forecast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trends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historical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district-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3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patterns.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6000"/>
              </a:lnSpc>
            </a:pPr>
            <a:r>
              <a:rPr sz="3300" b="1" spc="-20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3300" b="1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b="1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25" dirty="0">
                <a:latin typeface="Times New Roman" panose="02020603050405020304"/>
                <a:cs typeface="Times New Roman" panose="02020603050405020304"/>
              </a:rPr>
              <a:t>Assessment</a:t>
            </a:r>
            <a:r>
              <a:rPr sz="3300" b="1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40" dirty="0">
                <a:latin typeface="Times New Roman" panose="02020603050405020304"/>
                <a:cs typeface="Times New Roman" panose="02020603050405020304"/>
              </a:rPr>
              <a:t>Engine:</a:t>
            </a:r>
            <a:r>
              <a:rPr sz="3300" b="1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Combines</a:t>
            </a:r>
            <a:r>
              <a:rPr sz="33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4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33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33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threshold</a:t>
            </a:r>
            <a:r>
              <a:rPr sz="33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logic</a:t>
            </a:r>
            <a:r>
              <a:rPr sz="33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classification.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6216932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731491" y="5928007"/>
            <a:ext cx="500062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335" algn="l"/>
                <a:tab pos="1694180" algn="l"/>
                <a:tab pos="2880995" algn="l"/>
                <a:tab pos="3515995" algn="l"/>
              </a:tabLst>
            </a:pPr>
            <a:r>
              <a:rPr sz="1500" spc="1839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1839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District,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7378982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63589" y="5849902"/>
            <a:ext cx="10676890" cy="176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000"/>
              </a:lnSpc>
              <a:spcBef>
                <a:spcPts val="100"/>
              </a:spcBef>
              <a:tabLst>
                <a:tab pos="2416810" algn="l"/>
                <a:tab pos="3441065" algn="l"/>
                <a:tab pos="6124575" algn="l"/>
                <a:tab pos="8165465" algn="l"/>
                <a:tab pos="9172575" algn="l"/>
                <a:tab pos="9759950" algn="l"/>
              </a:tabLst>
            </a:pP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b="1" spc="-2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Tree: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Displays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structured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5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State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enabling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quick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identification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areas.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spc="-35" dirty="0">
                <a:latin typeface="Times New Roman" panose="02020603050405020304"/>
                <a:cs typeface="Times New Roman" panose="02020603050405020304"/>
              </a:rPr>
              <a:t>User-</a:t>
            </a:r>
            <a:r>
              <a:rPr sz="3300" b="1" spc="-70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33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Dashboard: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7960007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8541032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900" y="9122057"/>
            <a:ext cx="95250" cy="95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863589" y="7592977"/>
            <a:ext cx="15868650" cy="23495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16840">
              <a:lnSpc>
                <a:spcPct val="100000"/>
              </a:lnSpc>
              <a:spcBef>
                <a:spcPts val="715"/>
              </a:spcBef>
            </a:pPr>
            <a:r>
              <a:rPr sz="3300" spc="145" dirty="0">
                <a:latin typeface="Times New Roman" panose="02020603050405020304"/>
                <a:cs typeface="Times New Roman" panose="02020603050405020304"/>
              </a:rPr>
              <a:t>Modern,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contrast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smooth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transitions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visualizations.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spc="-5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33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3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Coverage: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6000"/>
              </a:lnSpc>
              <a:tabLst>
                <a:tab pos="1657350" algn="l"/>
                <a:tab pos="2328545" algn="l"/>
                <a:tab pos="3968750" algn="l"/>
                <a:tab pos="4758055" algn="l"/>
                <a:tab pos="6743700" algn="l"/>
                <a:tab pos="7926070" algn="l"/>
                <a:tab pos="9933940" algn="l"/>
                <a:tab pos="12085320" algn="l"/>
                <a:tab pos="13752830" algn="l"/>
                <a:tab pos="14519910" algn="l"/>
              </a:tabLst>
            </a:pPr>
            <a:r>
              <a:rPr sz="3300" spc="75" dirty="0">
                <a:latin typeface="Times New Roman" panose="02020603050405020304"/>
                <a:cs typeface="Times New Roman" panose="02020603050405020304"/>
              </a:rPr>
              <a:t>Ensures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districts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visualized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coordinate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fallback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missing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location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434313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4748" y="116782"/>
            <a:ext cx="136131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Data</a:t>
            </a:r>
            <a:r>
              <a:rPr spc="-195" dirty="0"/>
              <a:t> </a:t>
            </a:r>
            <a:r>
              <a:rPr spc="-105" dirty="0"/>
              <a:t>Preprocessing</a:t>
            </a:r>
            <a:r>
              <a:rPr spc="-100" dirty="0"/>
              <a:t> </a:t>
            </a:r>
            <a:r>
              <a:rPr spc="-400" dirty="0"/>
              <a:t>&amp;</a:t>
            </a:r>
            <a:r>
              <a:rPr spc="-5" dirty="0"/>
              <a:t> </a:t>
            </a:r>
            <a:r>
              <a:rPr spc="-105" dirty="0"/>
              <a:t>Feature</a:t>
            </a:r>
            <a:r>
              <a:rPr spc="-100" dirty="0"/>
              <a:t> </a:t>
            </a:r>
            <a:r>
              <a:rPr spc="-90" dirty="0"/>
              <a:t>Engineering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1868646"/>
            <a:ext cx="95250" cy="95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65922" y="1579721"/>
            <a:ext cx="267589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b="1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70" dirty="0">
                <a:latin typeface="Times New Roman" panose="02020603050405020304"/>
                <a:cs typeface="Times New Roman" panose="02020603050405020304"/>
              </a:rPr>
              <a:t>Cleaning: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2449671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134500" y="2160746"/>
            <a:ext cx="13004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dataset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3611721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4192746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4773771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5354795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5935820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65922" y="2082641"/>
            <a:ext cx="14341475" cy="4092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000"/>
              </a:lnSpc>
              <a:spcBef>
                <a:spcPts val="100"/>
              </a:spcBef>
              <a:tabLst>
                <a:tab pos="1579245" algn="l"/>
                <a:tab pos="3168015" algn="l"/>
                <a:tab pos="4643120" algn="l"/>
                <a:tab pos="6236335" algn="l"/>
                <a:tab pos="7475855" algn="l"/>
                <a:tab pos="8907145" algn="l"/>
                <a:tab pos="9530715" algn="l"/>
                <a:tab pos="11346815" algn="l"/>
                <a:tab pos="12272010" algn="l"/>
              </a:tabLst>
            </a:pP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Handle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missing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values,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convert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counts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4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numeric,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standardize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structure.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b="1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Filtering: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spc="90" dirty="0">
                <a:latin typeface="Times New Roman" panose="02020603050405020304"/>
                <a:cs typeface="Times New Roman" panose="02020603050405020304"/>
              </a:rPr>
              <a:t>Remove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aggregate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entries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focus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district-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accuracy.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spc="-5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33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Engineering: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lag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(previous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years)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rolling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averages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capture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trends.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spc="-20" dirty="0">
                <a:latin typeface="Times New Roman" panose="02020603050405020304"/>
                <a:cs typeface="Times New Roman" panose="02020603050405020304"/>
              </a:rPr>
              <a:t>Categorical</a:t>
            </a:r>
            <a:r>
              <a:rPr sz="33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Encoding: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6516845"/>
            <a:ext cx="95250" cy="952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793443" y="6227921"/>
            <a:ext cx="16414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60" dirty="0">
                <a:latin typeface="Times New Roman" panose="02020603050405020304"/>
                <a:cs typeface="Times New Roman" panose="02020603050405020304"/>
              </a:rPr>
              <a:t>encoding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7678895"/>
            <a:ext cx="95250" cy="95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8259920"/>
            <a:ext cx="95250" cy="952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8840945"/>
            <a:ext cx="95250" cy="95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233" y="9421970"/>
            <a:ext cx="95250" cy="952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565922" y="6149816"/>
            <a:ext cx="13994130" cy="351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000"/>
              </a:lnSpc>
              <a:spcBef>
                <a:spcPts val="100"/>
              </a:spcBef>
              <a:tabLst>
                <a:tab pos="2192020" algn="l"/>
                <a:tab pos="3468370" algn="l"/>
                <a:tab pos="5198745" algn="l"/>
                <a:tab pos="6130290" algn="l"/>
                <a:tab pos="7494270" algn="l"/>
                <a:tab pos="8657590" algn="l"/>
                <a:tab pos="9632950" algn="l"/>
                <a:tab pos="11664950" algn="l"/>
                <a:tab pos="1303337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Transform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State,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District,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numerical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techniques.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spc="-20" dirty="0">
                <a:latin typeface="Times New Roman" panose="02020603050405020304"/>
                <a:cs typeface="Times New Roman" panose="02020603050405020304"/>
              </a:rPr>
              <a:t>Geospatial</a:t>
            </a:r>
            <a:r>
              <a:rPr sz="33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Mapping: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Assign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latitude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longitude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districts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map-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visualization.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b="1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Splitting: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spc="65" dirty="0">
                <a:latin typeface="Times New Roman" panose="02020603050405020304"/>
                <a:cs typeface="Times New Roman" panose="02020603050405020304"/>
              </a:rPr>
              <a:t>Divide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dataset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sets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building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validation.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279770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290" dirty="0"/>
              <a:t> </a:t>
            </a:r>
            <a:r>
              <a:rPr spc="-35" dirty="0"/>
              <a:t>Methodology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1661735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2804735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3376235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3947735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4519235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5662235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6233735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6805235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7376735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7948235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359" y="9091235"/>
            <a:ext cx="95250" cy="952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744536" y="1302173"/>
            <a:ext cx="15494000" cy="859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  <a:tabLst>
                <a:tab pos="1224915" algn="l"/>
                <a:tab pos="3719195" algn="l"/>
                <a:tab pos="5374005" algn="l"/>
                <a:tab pos="7859395" algn="l"/>
                <a:tab pos="9174480" algn="l"/>
                <a:tab pos="10297160" algn="l"/>
                <a:tab pos="11416030" algn="l"/>
                <a:tab pos="14262735" algn="l"/>
              </a:tabLst>
            </a:pPr>
            <a:r>
              <a:rPr sz="3200" b="1" spc="-2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district-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preprocessing,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feature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(lags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rolling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means),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encoding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250" dirty="0">
                <a:latin typeface="Times New Roman" panose="02020603050405020304"/>
                <a:cs typeface="Times New Roman" panose="02020603050405020304"/>
              </a:rPr>
              <a:t>ML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readiness.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200" b="1" spc="-40" dirty="0">
                <a:latin typeface="Times New Roman" panose="02020603050405020304"/>
                <a:cs typeface="Times New Roman" panose="02020603050405020304"/>
              </a:rPr>
              <a:t>Predictive</a:t>
            </a:r>
            <a:r>
              <a:rPr sz="32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40" dirty="0">
                <a:latin typeface="Times New Roman" panose="02020603050405020304"/>
                <a:cs typeface="Times New Roman" panose="02020603050405020304"/>
              </a:rPr>
              <a:t>Modeling:</a:t>
            </a:r>
            <a:r>
              <a:rPr sz="3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dual-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approach: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Regression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count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prediction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Trend</a:t>
            </a:r>
            <a:r>
              <a:rPr sz="32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classifier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predicting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increase/decrease</a:t>
            </a:r>
            <a:r>
              <a:rPr sz="32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patterns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32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25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32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Logic:</a:t>
            </a:r>
            <a:r>
              <a:rPr sz="32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Combine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regression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trend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ensure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3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consistent</a:t>
            </a:r>
            <a:r>
              <a:rPr sz="3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forecasts.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25" dirty="0">
                <a:latin typeface="Times New Roman" panose="02020603050405020304"/>
                <a:cs typeface="Times New Roman" panose="02020603050405020304"/>
              </a:rPr>
              <a:t>Detection:</a:t>
            </a:r>
            <a:r>
              <a:rPr sz="3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Apply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logic: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8164195">
              <a:lnSpc>
                <a:spcPct val="117000"/>
              </a:lnSpc>
            </a:pP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relative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risk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Threshold-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severity </a:t>
            </a:r>
            <a:r>
              <a:rPr sz="3200" spc="125" dirty="0"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4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maximum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50" dirty="0">
                <a:latin typeface="Times New Roman" panose="02020603050405020304"/>
                <a:cs typeface="Times New Roman" panose="02020603050405020304"/>
              </a:rPr>
              <a:t>both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Geospatial</a:t>
            </a:r>
            <a:r>
              <a:rPr sz="3200" b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20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Display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Leaflet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maps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color-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coded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zones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tree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structure.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2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Integration:</a:t>
            </a:r>
            <a:r>
              <a:rPr sz="3200" b="1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Built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40" dirty="0"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(Flask),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Scikit-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learn,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React,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Tailwind,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Leaflet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full-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stack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solution.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4299" y="46132"/>
            <a:ext cx="723963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Project</a:t>
            </a:r>
            <a:r>
              <a:rPr spc="-340" dirty="0"/>
              <a:t> </a:t>
            </a:r>
            <a:r>
              <a:rPr spc="-90" dirty="0"/>
              <a:t>Demonstration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293897" y="1237962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68" y="1893936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68" y="3036936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68" y="4179936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68" y="5322936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68" y="6465936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68" y="7608936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78046" y="1534374"/>
            <a:ext cx="15494000" cy="688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  <a:tabLst>
                <a:tab pos="1036955" algn="l"/>
                <a:tab pos="2269490" algn="l"/>
                <a:tab pos="3162300" algn="l"/>
                <a:tab pos="4097020" algn="l"/>
                <a:tab pos="5410835" algn="l"/>
                <a:tab pos="6618605" algn="l"/>
                <a:tab pos="8267700" algn="l"/>
                <a:tab pos="9450705" algn="l"/>
                <a:tab pos="10321925" algn="l"/>
                <a:tab pos="11614785" algn="l"/>
                <a:tab pos="13434060" algn="l"/>
                <a:tab pos="15050135" algn="l"/>
              </a:tabLst>
            </a:pPr>
            <a:r>
              <a:rPr sz="3200" b="1" spc="-2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Input: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selects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State,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District,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Year,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Category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35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dashboard.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1249045" algn="l"/>
                <a:tab pos="3299460" algn="l"/>
                <a:tab pos="4157345" algn="l"/>
                <a:tab pos="5508625" algn="l"/>
                <a:tab pos="6409055" algn="l"/>
                <a:tab pos="7828280" algn="l"/>
                <a:tab pos="9469755" algn="l"/>
                <a:tab pos="11068685" algn="l"/>
                <a:tab pos="12484100" algn="l"/>
                <a:tab pos="13026390" algn="l"/>
                <a:tab pos="14420850" algn="l"/>
              </a:tabLst>
            </a:pP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Prediction: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uses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trained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predict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future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count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historical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5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1557655" algn="l"/>
                <a:tab pos="3477895" algn="l"/>
                <a:tab pos="5125085" algn="l"/>
                <a:tab pos="5832475" algn="l"/>
                <a:tab pos="7531100" algn="l"/>
                <a:tab pos="8352790" algn="l"/>
                <a:tab pos="10090150" algn="l"/>
                <a:tab pos="10954385" algn="l"/>
                <a:tab pos="12108180" algn="l"/>
                <a:tab pos="13867130" algn="l"/>
                <a:tab pos="14688185" algn="l"/>
              </a:tabLst>
            </a:pP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Detection: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Districts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analyzed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classified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High,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Medium,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Low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zones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techniques.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978535" algn="l"/>
                <a:tab pos="3474085" algn="l"/>
                <a:tab pos="4304665" algn="l"/>
                <a:tab pos="5581650" algn="l"/>
                <a:tab pos="6275705" algn="l"/>
                <a:tab pos="8072120" algn="l"/>
                <a:tab pos="8676640" algn="l"/>
                <a:tab pos="9260205" algn="l"/>
                <a:tab pos="11235690" algn="l"/>
                <a:tab pos="12607290" algn="l"/>
                <a:tab pos="13526135" algn="l"/>
                <a:tab pos="14446250" algn="l"/>
              </a:tabLst>
            </a:pPr>
            <a:r>
              <a:rPr sz="3200" b="1" spc="-25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Visualization: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displayed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Leaflet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35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color-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coded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markers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identification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hotspots.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  <a:tabLst>
                <a:tab pos="2374265" algn="l"/>
                <a:tab pos="5348605" algn="l"/>
                <a:tab pos="6436995" algn="l"/>
                <a:tab pos="6911975" algn="l"/>
                <a:tab pos="8830945" algn="l"/>
                <a:tab pos="9399905" algn="l"/>
                <a:tab pos="10488295" algn="l"/>
                <a:tab pos="11104245" algn="l"/>
                <a:tab pos="12120245" algn="l"/>
                <a:tab pos="13272135" algn="l"/>
                <a:tab pos="13888085" algn="l"/>
              </a:tabLst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Representation: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8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organized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State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1739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1739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15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Districts,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helping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quickly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understand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distribution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crime.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7000"/>
              </a:lnSpc>
            </a:pPr>
            <a:r>
              <a:rPr sz="3200" spc="90" dirty="0">
                <a:latin typeface="Times New Roman" panose="02020603050405020304"/>
                <a:cs typeface="Times New Roman" panose="02020603050405020304"/>
              </a:rPr>
              <a:t>Insight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Generation: The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insights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4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decision-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prevention.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234823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2462" y="1201466"/>
            <a:ext cx="17016730" cy="87407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710"/>
              </a:spcBef>
              <a:buChar char="•"/>
              <a:tabLst>
                <a:tab pos="26606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TC-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01:</a:t>
            </a:r>
            <a:r>
              <a:rPr sz="33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22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Integrity</a:t>
            </a:r>
            <a:r>
              <a:rPr sz="33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33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Parsing: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indent="153670">
              <a:lnSpc>
                <a:spcPct val="116000"/>
              </a:lnSpc>
              <a:spcBef>
                <a:spcPts val="5"/>
              </a:spcBef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Verify</a:t>
            </a:r>
            <a:r>
              <a:rPr sz="33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correctly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loads</a:t>
            </a:r>
            <a:r>
              <a:rPr sz="33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dataset</a:t>
            </a:r>
            <a:r>
              <a:rPr sz="33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removes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aggregate</a:t>
            </a:r>
            <a:r>
              <a:rPr sz="33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entries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ensure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analysis.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266065" indent="-253365">
              <a:lnSpc>
                <a:spcPct val="100000"/>
              </a:lnSpc>
              <a:spcBef>
                <a:spcPts val="615"/>
              </a:spcBef>
              <a:buChar char="•"/>
              <a:tabLst>
                <a:tab pos="26606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TC-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02: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Predictive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(Regressor):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17475">
              <a:lnSpc>
                <a:spcPct val="100000"/>
              </a:lnSpc>
              <a:spcBef>
                <a:spcPts val="615"/>
              </a:spcBef>
            </a:pPr>
            <a:r>
              <a:rPr sz="3300" spc="75" dirty="0">
                <a:latin typeface="Times New Roman" panose="02020603050405020304"/>
                <a:cs typeface="Times New Roman" panose="02020603050405020304"/>
              </a:rPr>
              <a:t>Validate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generates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realistic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crime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predictions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using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historical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patterns.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266065" indent="-253365">
              <a:lnSpc>
                <a:spcPct val="100000"/>
              </a:lnSpc>
              <a:spcBef>
                <a:spcPts val="615"/>
              </a:spcBef>
              <a:buChar char="•"/>
              <a:tabLst>
                <a:tab pos="26606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TC-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03: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5" dirty="0">
                <a:latin typeface="Times New Roman" panose="02020603050405020304"/>
                <a:cs typeface="Times New Roman" panose="02020603050405020304"/>
              </a:rPr>
              <a:t>Trend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Alignment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(Classifier):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indent="135255">
              <a:lnSpc>
                <a:spcPct val="116000"/>
              </a:lnSpc>
            </a:pP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33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correctly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identifies</a:t>
            </a:r>
            <a:r>
              <a:rPr sz="33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trends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(Increase/Decrease)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aligns</a:t>
            </a:r>
            <a:r>
              <a:rPr sz="33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predictions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accordingly.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266065" indent="-253365">
              <a:lnSpc>
                <a:spcPct val="100000"/>
              </a:lnSpc>
              <a:spcBef>
                <a:spcPts val="615"/>
              </a:spcBef>
              <a:buChar char="•"/>
              <a:tabLst>
                <a:tab pos="26606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TC-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04: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0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Detection: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indent="117475">
              <a:lnSpc>
                <a:spcPct val="116000"/>
              </a:lnSpc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Verify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correct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districts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High,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Medium,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4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threshold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logic.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266065" indent="-253365">
              <a:lnSpc>
                <a:spcPct val="100000"/>
              </a:lnSpc>
              <a:spcBef>
                <a:spcPts val="615"/>
              </a:spcBef>
              <a:buChar char="•"/>
              <a:tabLst>
                <a:tab pos="26606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TC-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05: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Geo-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Visualization: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17475">
              <a:lnSpc>
                <a:spcPct val="100000"/>
              </a:lnSpc>
              <a:spcBef>
                <a:spcPts val="615"/>
              </a:spcBef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Confirm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hotspots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accurately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displayed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Leaflet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65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0" dirty="0">
                <a:latin typeface="Times New Roman" panose="02020603050405020304"/>
                <a:cs typeface="Times New Roman" panose="02020603050405020304"/>
              </a:rPr>
              <a:t>proper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coordinates.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266065" indent="-253365">
              <a:lnSpc>
                <a:spcPct val="100000"/>
              </a:lnSpc>
              <a:spcBef>
                <a:spcPts val="615"/>
              </a:spcBef>
              <a:buChar char="•"/>
              <a:tabLst>
                <a:tab pos="266065" algn="l"/>
              </a:tabLst>
            </a:pP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TC-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06: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3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22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Synchronization: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17475">
              <a:lnSpc>
                <a:spcPct val="100000"/>
              </a:lnSpc>
              <a:spcBef>
                <a:spcPts val="615"/>
              </a:spcBef>
            </a:pP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tree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matches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5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results.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64924" y="145804"/>
            <a:ext cx="8146276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2580" algn="l"/>
                <a:tab pos="3338195" algn="l"/>
              </a:tabLst>
            </a:pPr>
            <a:r>
              <a:rPr spc="-20" dirty="0"/>
              <a:t>Test</a:t>
            </a:r>
            <a:r>
              <a:rPr dirty="0"/>
              <a:t>	</a:t>
            </a:r>
            <a:r>
              <a:rPr spc="-20" dirty="0"/>
              <a:t>Case</a:t>
            </a:r>
            <a:r>
              <a:rPr dirty="0"/>
              <a:t>	</a:t>
            </a:r>
            <a:r>
              <a:rPr spc="-50" dirty="0"/>
              <a:t>Specifications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078384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2501270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3053720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3606170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4158620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5263519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581596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6368419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7473319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8025769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48" y="8578219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44748" y="1606536"/>
            <a:ext cx="12365355" cy="72072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150" b="1" spc="-80" dirty="0"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315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b="1" spc="-10" dirty="0">
                <a:latin typeface="Times New Roman" panose="02020603050405020304"/>
                <a:cs typeface="Times New Roman" panose="02020603050405020304"/>
              </a:rPr>
              <a:t>Requirements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692150" marR="3179445">
              <a:lnSpc>
                <a:spcPct val="115000"/>
              </a:lnSpc>
            </a:pPr>
            <a:r>
              <a:rPr sz="3150" spc="60" dirty="0">
                <a:latin typeface="Times New Roman" panose="02020603050405020304"/>
                <a:cs typeface="Times New Roman" panose="02020603050405020304"/>
              </a:rPr>
              <a:t>Processor: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80" dirty="0">
                <a:latin typeface="Times New Roman" panose="02020603050405020304"/>
                <a:cs typeface="Times New Roman" panose="02020603050405020304"/>
              </a:rPr>
              <a:t>Intel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 i5 / </a:t>
            </a:r>
            <a:r>
              <a:rPr sz="3150" spc="240" dirty="0">
                <a:latin typeface="Times New Roman" panose="02020603050405020304"/>
                <a:cs typeface="Times New Roman" panose="02020603050405020304"/>
              </a:rPr>
              <a:t>AMD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75" dirty="0">
                <a:latin typeface="Times New Roman" panose="02020603050405020304"/>
                <a:cs typeface="Times New Roman" panose="02020603050405020304"/>
              </a:rPr>
              <a:t>Ryzen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 5 </a:t>
            </a:r>
            <a:r>
              <a:rPr sz="3150" spc="95" dirty="0">
                <a:latin typeface="Times New Roman" panose="02020603050405020304"/>
                <a:cs typeface="Times New Roman" panose="02020603050405020304"/>
              </a:rPr>
              <a:t>(or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45" dirty="0">
                <a:latin typeface="Times New Roman" panose="02020603050405020304"/>
                <a:cs typeface="Times New Roman" panose="02020603050405020304"/>
              </a:rPr>
              <a:t>equivalent) </a:t>
            </a:r>
            <a:r>
              <a:rPr sz="3150" spc="175" dirty="0">
                <a:latin typeface="Times New Roman" panose="02020603050405020304"/>
                <a:cs typeface="Times New Roman" panose="02020603050405020304"/>
              </a:rPr>
              <a:t>RAM: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10" dirty="0">
                <a:latin typeface="Times New Roman" panose="02020603050405020304"/>
                <a:cs typeface="Times New Roman" panose="02020603050405020304"/>
              </a:rPr>
              <a:t>Minimum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95" dirty="0">
                <a:latin typeface="Times New Roman" panose="02020603050405020304"/>
                <a:cs typeface="Times New Roman" panose="02020603050405020304"/>
              </a:rPr>
              <a:t>8GB</a:t>
            </a:r>
            <a:r>
              <a:rPr sz="3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50" dirty="0">
                <a:latin typeface="Times New Roman" panose="02020603050405020304"/>
                <a:cs typeface="Times New Roman" panose="02020603050405020304"/>
              </a:rPr>
              <a:t>(16GB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60" dirty="0">
                <a:latin typeface="Times New Roman" panose="02020603050405020304"/>
                <a:cs typeface="Times New Roman" panose="02020603050405020304"/>
              </a:rPr>
              <a:t>recommended) </a:t>
            </a:r>
            <a:r>
              <a:rPr sz="3150" spc="65" dirty="0">
                <a:latin typeface="Times New Roman" panose="02020603050405020304"/>
                <a:cs typeface="Times New Roman" panose="02020603050405020304"/>
              </a:rPr>
              <a:t>Storage:</a:t>
            </a:r>
            <a:r>
              <a:rPr sz="31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45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31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least</a:t>
            </a:r>
            <a:r>
              <a:rPr sz="31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95" dirty="0">
                <a:latin typeface="Times New Roman" panose="02020603050405020304"/>
                <a:cs typeface="Times New Roman" panose="02020603050405020304"/>
              </a:rPr>
              <a:t>1GB</a:t>
            </a:r>
            <a:r>
              <a:rPr sz="31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free</a:t>
            </a:r>
            <a:r>
              <a:rPr sz="31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-10" dirty="0">
                <a:latin typeface="Times New Roman" panose="02020603050405020304"/>
                <a:cs typeface="Times New Roman" panose="02020603050405020304"/>
              </a:rPr>
              <a:t>space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692150">
              <a:lnSpc>
                <a:spcPct val="100000"/>
              </a:lnSpc>
              <a:spcBef>
                <a:spcPts val="570"/>
              </a:spcBef>
            </a:pPr>
            <a:r>
              <a:rPr sz="3150" spc="60" dirty="0">
                <a:latin typeface="Times New Roman" panose="02020603050405020304"/>
                <a:cs typeface="Times New Roman" panose="02020603050405020304"/>
              </a:rPr>
              <a:t>Display:</a:t>
            </a:r>
            <a:r>
              <a:rPr sz="315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1366×768</a:t>
            </a:r>
            <a:r>
              <a:rPr sz="31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(1920×1080</a:t>
            </a:r>
            <a:r>
              <a:rPr sz="31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60" dirty="0">
                <a:latin typeface="Times New Roman" panose="02020603050405020304"/>
                <a:cs typeface="Times New Roman" panose="02020603050405020304"/>
              </a:rPr>
              <a:t>recommended)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692150" marR="6444615" indent="-680085">
              <a:lnSpc>
                <a:spcPct val="115000"/>
              </a:lnSpc>
            </a:pPr>
            <a:r>
              <a:rPr sz="3150" b="1" spc="-25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315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b="1" spc="-95" dirty="0">
                <a:latin typeface="Times New Roman" panose="02020603050405020304"/>
                <a:cs typeface="Times New Roman" panose="02020603050405020304"/>
              </a:rPr>
              <a:t>Requirements</a:t>
            </a:r>
            <a:r>
              <a:rPr sz="315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b="1" spc="-10" dirty="0">
                <a:latin typeface="Times New Roman" panose="02020603050405020304"/>
                <a:cs typeface="Times New Roman" panose="02020603050405020304"/>
              </a:rPr>
              <a:t>(Backend)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OS:</a:t>
            </a:r>
            <a:r>
              <a:rPr sz="31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70" dirty="0">
                <a:latin typeface="Times New Roman" panose="02020603050405020304"/>
                <a:cs typeface="Times New Roman" panose="02020603050405020304"/>
              </a:rPr>
              <a:t>Windows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70" dirty="0">
                <a:latin typeface="Times New Roman" panose="02020603050405020304"/>
                <a:cs typeface="Times New Roman" panose="02020603050405020304"/>
              </a:rPr>
              <a:t>macOS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75" dirty="0">
                <a:latin typeface="Times New Roman" panose="02020603050405020304"/>
                <a:cs typeface="Times New Roman" panose="02020603050405020304"/>
              </a:rPr>
              <a:t>Linux </a:t>
            </a:r>
            <a:r>
              <a:rPr sz="3150" spc="100" dirty="0">
                <a:latin typeface="Times New Roman" panose="02020603050405020304"/>
                <a:cs typeface="Times New Roman" panose="02020603050405020304"/>
              </a:rPr>
              <a:t>Python: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50" dirty="0">
                <a:latin typeface="Times New Roman" panose="02020603050405020304"/>
                <a:cs typeface="Times New Roman" panose="02020603050405020304"/>
              </a:rPr>
              <a:t>Version</a:t>
            </a:r>
            <a:r>
              <a:rPr sz="3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70" dirty="0">
                <a:latin typeface="Times New Roman" panose="02020603050405020304"/>
                <a:cs typeface="Times New Roman" panose="02020603050405020304"/>
              </a:rPr>
              <a:t>3.8+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12700" marR="2562225" indent="679450">
              <a:lnSpc>
                <a:spcPct val="115000"/>
              </a:lnSpc>
            </a:pPr>
            <a:r>
              <a:rPr sz="3150" spc="65" dirty="0">
                <a:latin typeface="Times New Roman" panose="02020603050405020304"/>
                <a:cs typeface="Times New Roman" panose="02020603050405020304"/>
              </a:rPr>
              <a:t>Libraries:</a:t>
            </a:r>
            <a:r>
              <a:rPr sz="31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10" dirty="0">
                <a:latin typeface="Times New Roman" panose="02020603050405020304"/>
                <a:cs typeface="Times New Roman" panose="02020603050405020304"/>
              </a:rPr>
              <a:t>Flask,</a:t>
            </a:r>
            <a:r>
              <a:rPr sz="31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14" dirty="0">
                <a:latin typeface="Times New Roman" panose="02020603050405020304"/>
                <a:cs typeface="Times New Roman" panose="02020603050405020304"/>
              </a:rPr>
              <a:t>Pandas,</a:t>
            </a:r>
            <a:r>
              <a:rPr sz="31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dirty="0">
                <a:latin typeface="Times New Roman" panose="02020603050405020304"/>
                <a:cs typeface="Times New Roman" panose="02020603050405020304"/>
              </a:rPr>
              <a:t>Scikit-</a:t>
            </a:r>
            <a:r>
              <a:rPr sz="3150" spc="75" dirty="0">
                <a:latin typeface="Times New Roman" panose="02020603050405020304"/>
                <a:cs typeface="Times New Roman" panose="02020603050405020304"/>
              </a:rPr>
              <a:t>learn,</a:t>
            </a:r>
            <a:r>
              <a:rPr sz="31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25" dirty="0">
                <a:latin typeface="Times New Roman" panose="02020603050405020304"/>
                <a:cs typeface="Times New Roman" panose="02020603050405020304"/>
              </a:rPr>
              <a:t>NumPy,</a:t>
            </a:r>
            <a:r>
              <a:rPr sz="31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80" dirty="0">
                <a:latin typeface="Times New Roman" panose="02020603050405020304"/>
                <a:cs typeface="Times New Roman" panose="02020603050405020304"/>
              </a:rPr>
              <a:t>Joblib </a:t>
            </a:r>
            <a:r>
              <a:rPr sz="3150" spc="65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85" dirty="0">
                <a:latin typeface="Times New Roman" panose="02020603050405020304"/>
                <a:cs typeface="Times New Roman" panose="02020603050405020304"/>
              </a:rPr>
              <a:t>Requirements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10" dirty="0">
                <a:latin typeface="Times New Roman" panose="02020603050405020304"/>
                <a:cs typeface="Times New Roman" panose="02020603050405020304"/>
              </a:rPr>
              <a:t>(Frontend)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692150" marR="5745480">
              <a:lnSpc>
                <a:spcPct val="115000"/>
              </a:lnSpc>
            </a:pPr>
            <a:r>
              <a:rPr sz="3150" spc="90" dirty="0">
                <a:latin typeface="Times New Roman" panose="02020603050405020304"/>
                <a:cs typeface="Times New Roman" panose="02020603050405020304"/>
              </a:rPr>
              <a:t>Environment: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80" dirty="0">
                <a:latin typeface="Times New Roman" panose="02020603050405020304"/>
                <a:cs typeface="Times New Roman" panose="02020603050405020304"/>
              </a:rPr>
              <a:t>Node.js</a:t>
            </a:r>
            <a:r>
              <a:rPr sz="3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-10" dirty="0">
                <a:latin typeface="Times New Roman" panose="02020603050405020304"/>
                <a:cs typeface="Times New Roman" panose="02020603050405020304"/>
              </a:rPr>
              <a:t>(v18+) </a:t>
            </a:r>
            <a:r>
              <a:rPr sz="3150" spc="100" dirty="0">
                <a:latin typeface="Times New Roman" panose="02020603050405020304"/>
                <a:cs typeface="Times New Roman" panose="02020603050405020304"/>
              </a:rPr>
              <a:t>Frameworks: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05" dirty="0">
                <a:latin typeface="Times New Roman" panose="02020603050405020304"/>
                <a:cs typeface="Times New Roman" panose="02020603050405020304"/>
              </a:rPr>
              <a:t>React,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65" dirty="0">
                <a:latin typeface="Times New Roman" panose="02020603050405020304"/>
                <a:cs typeface="Times New Roman" panose="02020603050405020304"/>
              </a:rPr>
              <a:t>Tailwind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-25" dirty="0">
                <a:latin typeface="Times New Roman" panose="02020603050405020304"/>
                <a:cs typeface="Times New Roman" panose="02020603050405020304"/>
              </a:rPr>
              <a:t>CSS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692150">
              <a:lnSpc>
                <a:spcPct val="100000"/>
              </a:lnSpc>
              <a:spcBef>
                <a:spcPts val="565"/>
              </a:spcBef>
            </a:pPr>
            <a:r>
              <a:rPr sz="3150" spc="65" dirty="0">
                <a:latin typeface="Times New Roman" panose="02020603050405020304"/>
                <a:cs typeface="Times New Roman" panose="02020603050405020304"/>
              </a:rPr>
              <a:t>Libraries: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55" dirty="0">
                <a:latin typeface="Times New Roman" panose="02020603050405020304"/>
                <a:cs typeface="Times New Roman" panose="02020603050405020304"/>
              </a:rPr>
              <a:t>Leaflet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60" dirty="0">
                <a:latin typeface="Times New Roman" panose="02020603050405020304"/>
                <a:cs typeface="Times New Roman" panose="02020603050405020304"/>
              </a:rPr>
              <a:t>(maps),</a:t>
            </a:r>
            <a:r>
              <a:rPr sz="3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50" dirty="0">
                <a:latin typeface="Times New Roman" panose="02020603050405020304"/>
                <a:cs typeface="Times New Roman" panose="02020603050405020304"/>
              </a:rPr>
              <a:t>Framer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45" dirty="0">
                <a:latin typeface="Times New Roman" panose="02020603050405020304"/>
                <a:cs typeface="Times New Roman" panose="02020603050405020304"/>
              </a:rPr>
              <a:t>Motion</a:t>
            </a:r>
            <a:r>
              <a:rPr sz="3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95" dirty="0">
                <a:latin typeface="Times New Roman" panose="02020603050405020304"/>
                <a:cs typeface="Times New Roman" panose="02020603050405020304"/>
              </a:rPr>
              <a:t>(UI),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60" dirty="0">
                <a:latin typeface="Times New Roman" panose="02020603050405020304"/>
                <a:cs typeface="Times New Roman" panose="02020603050405020304"/>
              </a:rPr>
              <a:t>Lucide</a:t>
            </a:r>
            <a:r>
              <a:rPr sz="3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110" dirty="0">
                <a:latin typeface="Times New Roman" panose="02020603050405020304"/>
                <a:cs typeface="Times New Roman" panose="02020603050405020304"/>
              </a:rPr>
              <a:t>React</a:t>
            </a:r>
            <a:r>
              <a:rPr sz="31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-10" dirty="0">
                <a:latin typeface="Times New Roman" panose="02020603050405020304"/>
                <a:cs typeface="Times New Roman" panose="02020603050405020304"/>
              </a:rPr>
              <a:t>(icons)</a:t>
            </a:r>
            <a:endParaRPr sz="3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455514" y="-10634"/>
            <a:ext cx="685228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2695" algn="l"/>
              </a:tabLst>
            </a:pPr>
            <a:r>
              <a:rPr spc="-10" dirty="0"/>
              <a:t>System</a:t>
            </a:r>
            <a:r>
              <a:rPr dirty="0"/>
              <a:t>	</a:t>
            </a:r>
            <a:r>
              <a:rPr spc="-165" dirty="0"/>
              <a:t>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251788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68091" y="1382887"/>
            <a:ext cx="10262870" cy="779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4155">
              <a:lnSpc>
                <a:spcPct val="116000"/>
              </a:lnSpc>
              <a:spcBef>
                <a:spcPts val="100"/>
              </a:spcBef>
              <a:buFont typeface="Times New Roman" panose="02020603050405020304"/>
              <a:buChar char="•"/>
              <a:tabLst>
                <a:tab pos="236220" algn="l"/>
              </a:tabLst>
            </a:pPr>
            <a:r>
              <a:rPr sz="2750" spc="9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10" dirty="0">
                <a:latin typeface="Times New Roman" panose="02020603050405020304"/>
                <a:cs typeface="Times New Roman" panose="02020603050405020304"/>
              </a:rPr>
              <a:t>Input: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selects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75" dirty="0">
                <a:latin typeface="Times New Roman" panose="02020603050405020304"/>
                <a:cs typeface="Times New Roman" panose="02020603050405020304"/>
              </a:rPr>
              <a:t>required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inputs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75" dirty="0">
                <a:latin typeface="Times New Roman" panose="02020603050405020304"/>
                <a:cs typeface="Times New Roman" panose="02020603050405020304"/>
              </a:rPr>
              <a:t>State,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District,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Year,</a:t>
            </a:r>
            <a:r>
              <a:rPr sz="27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Category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5" dirty="0">
                <a:latin typeface="Times New Roman" panose="02020603050405020304"/>
                <a:cs typeface="Times New Roman" panose="02020603050405020304"/>
              </a:rPr>
              <a:t>dashboard.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272415">
              <a:lnSpc>
                <a:spcPct val="116000"/>
              </a:lnSpc>
              <a:buChar char="•"/>
              <a:tabLst>
                <a:tab pos="285115" algn="l"/>
                <a:tab pos="1843405" algn="l"/>
                <a:tab pos="3417570" algn="l"/>
                <a:tab pos="4145915" algn="l"/>
                <a:tab pos="5296535" algn="l"/>
                <a:tab pos="6640195" algn="l"/>
                <a:tab pos="7579995" algn="l"/>
                <a:tab pos="8689975" algn="l"/>
              </a:tabLst>
            </a:pPr>
            <a:r>
              <a:rPr sz="2750" spc="13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50" dirty="0">
                <a:latin typeface="Times New Roman" panose="02020603050405020304"/>
                <a:cs typeface="Times New Roman" panose="02020603050405020304"/>
              </a:rPr>
              <a:t>Interface: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displays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forms,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45" dirty="0">
                <a:latin typeface="Times New Roman" panose="02020603050405020304"/>
                <a:cs typeface="Times New Roman" panose="02020603050405020304"/>
              </a:rPr>
              <a:t>interactive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maps,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tree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0" dirty="0">
                <a:latin typeface="Times New Roman" panose="02020603050405020304"/>
                <a:cs typeface="Times New Roman" panose="02020603050405020304"/>
              </a:rPr>
              <a:t>visualizations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Times New Roman" panose="02020603050405020304"/>
                <a:cs typeface="Times New Roman" panose="02020603050405020304"/>
              </a:rPr>
              <a:t>React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 Leaflet.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240665">
              <a:lnSpc>
                <a:spcPct val="116000"/>
              </a:lnSpc>
              <a:buChar char="•"/>
              <a:tabLst>
                <a:tab pos="253365" algn="l"/>
              </a:tabLst>
            </a:pPr>
            <a:r>
              <a:rPr sz="2750" spc="130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sz="275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90" dirty="0">
                <a:latin typeface="Times New Roman" panose="02020603050405020304"/>
                <a:cs typeface="Times New Roman" panose="02020603050405020304"/>
              </a:rPr>
              <a:t>Communication:</a:t>
            </a:r>
            <a:r>
              <a:rPr sz="275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27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sends</a:t>
            </a:r>
            <a:r>
              <a:rPr sz="275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requests</a:t>
            </a:r>
            <a:r>
              <a:rPr sz="27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7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0" dirty="0">
                <a:latin typeface="Times New Roman" panose="02020603050405020304"/>
                <a:cs typeface="Times New Roman" panose="02020603050405020304"/>
              </a:rPr>
              <a:t>backend </a:t>
            </a:r>
            <a:r>
              <a:rPr sz="2750" spc="12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35" dirty="0">
                <a:latin typeface="Times New Roman" panose="02020603050405020304"/>
                <a:cs typeface="Times New Roman" panose="02020603050405020304"/>
              </a:rPr>
              <a:t>REST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90" dirty="0">
                <a:latin typeface="Times New Roman" panose="02020603050405020304"/>
                <a:cs typeface="Times New Roman" panose="02020603050405020304"/>
              </a:rPr>
              <a:t>APIs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9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processing.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308610">
              <a:lnSpc>
                <a:spcPct val="116000"/>
              </a:lnSpc>
              <a:buChar char="•"/>
              <a:tabLst>
                <a:tab pos="321310" algn="l"/>
                <a:tab pos="1259840" algn="l"/>
                <a:tab pos="3117215" algn="l"/>
                <a:tab pos="3881120" algn="l"/>
                <a:tab pos="5320030" algn="l"/>
                <a:tab pos="6851650" algn="l"/>
                <a:tab pos="7696200" algn="l"/>
                <a:tab pos="9208135" algn="l"/>
              </a:tabLst>
            </a:pPr>
            <a:r>
              <a:rPr sz="2750" spc="15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Processing: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80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70" dirty="0">
                <a:latin typeface="Times New Roman" panose="02020603050405020304"/>
                <a:cs typeface="Times New Roman" panose="02020603050405020304"/>
              </a:rPr>
              <a:t>performs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12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cleaning,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feature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275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(lag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sz="275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75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0" dirty="0">
                <a:latin typeface="Times New Roman" panose="02020603050405020304"/>
                <a:cs typeface="Times New Roman" panose="02020603050405020304"/>
              </a:rPr>
              <a:t>rolling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averages),</a:t>
            </a:r>
            <a:r>
              <a:rPr sz="275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45" dirty="0">
                <a:latin typeface="Times New Roman" panose="02020603050405020304"/>
                <a:cs typeface="Times New Roman" panose="02020603050405020304"/>
              </a:rPr>
              <a:t>encoding.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219075">
              <a:lnSpc>
                <a:spcPct val="116000"/>
              </a:lnSpc>
              <a:buChar char="•"/>
              <a:tabLst>
                <a:tab pos="231775" algn="l"/>
              </a:tabLst>
            </a:pPr>
            <a:r>
              <a:rPr sz="2750" spc="85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7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27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Processing:</a:t>
            </a:r>
            <a:r>
              <a:rPr sz="27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7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uses</a:t>
            </a:r>
            <a:r>
              <a:rPr sz="27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55" dirty="0">
                <a:latin typeface="Times New Roman" panose="02020603050405020304"/>
                <a:cs typeface="Times New Roman" panose="02020603050405020304"/>
              </a:rPr>
              <a:t>Random</a:t>
            </a:r>
            <a:r>
              <a:rPr sz="27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14" dirty="0">
                <a:latin typeface="Times New Roman" panose="02020603050405020304"/>
                <a:cs typeface="Times New Roman" panose="02020603050405020304"/>
              </a:rPr>
              <a:t>Forest</a:t>
            </a:r>
            <a:r>
              <a:rPr sz="27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75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3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2750" spc="10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45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9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14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detection.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257810">
              <a:lnSpc>
                <a:spcPct val="116000"/>
              </a:lnSpc>
              <a:buChar char="•"/>
              <a:tabLst>
                <a:tab pos="270510" algn="l"/>
                <a:tab pos="1096645" algn="l"/>
                <a:tab pos="3347720" algn="l"/>
                <a:tab pos="4749800" algn="l"/>
                <a:tab pos="5346700" algn="l"/>
                <a:tab pos="7175500" algn="l"/>
                <a:tab pos="7907020" algn="l"/>
                <a:tab pos="8886825" algn="l"/>
              </a:tabLst>
            </a:pPr>
            <a:r>
              <a:rPr sz="2750" spc="70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Classification: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Districts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40" dirty="0">
                <a:latin typeface="Times New Roman" panose="02020603050405020304"/>
                <a:cs typeface="Times New Roman" panose="02020603050405020304"/>
              </a:rPr>
              <a:t>categorized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8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75" dirty="0">
                <a:latin typeface="Times New Roman" panose="02020603050405020304"/>
                <a:cs typeface="Times New Roman" panose="02020603050405020304"/>
              </a:rPr>
              <a:t>High,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Medium,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75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3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2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logic.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251460">
              <a:lnSpc>
                <a:spcPct val="116000"/>
              </a:lnSpc>
              <a:buChar char="•"/>
              <a:tabLst>
                <a:tab pos="264160" algn="l"/>
              </a:tabLst>
            </a:pPr>
            <a:r>
              <a:rPr sz="2750" spc="45" dirty="0">
                <a:latin typeface="Times New Roman" panose="02020603050405020304"/>
                <a:cs typeface="Times New Roman" panose="02020603050405020304"/>
              </a:rPr>
              <a:t>Visualization:</a:t>
            </a:r>
            <a:r>
              <a:rPr sz="2750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275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75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0" dirty="0">
                <a:latin typeface="Times New Roman" panose="02020603050405020304"/>
                <a:cs typeface="Times New Roman" panose="02020603050405020304"/>
              </a:rPr>
              <a:t>displayed</a:t>
            </a:r>
            <a:r>
              <a:rPr sz="275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75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75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275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35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275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14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750" spc="55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27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tree</a:t>
            </a:r>
            <a:r>
              <a:rPr sz="2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75" dirty="0">
                <a:latin typeface="Times New Roman" panose="02020603050405020304"/>
                <a:cs typeface="Times New Roman" panose="02020603050405020304"/>
              </a:rPr>
              <a:t>structure.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 marR="5080" indent="309880">
              <a:lnSpc>
                <a:spcPct val="116000"/>
              </a:lnSpc>
              <a:buChar char="•"/>
              <a:tabLst>
                <a:tab pos="322580" algn="l"/>
                <a:tab pos="1299210" algn="l"/>
                <a:tab pos="2662555" algn="l"/>
                <a:tab pos="3427095" algn="l"/>
                <a:tab pos="4615815" algn="l"/>
                <a:tab pos="6073775" algn="l"/>
                <a:tab pos="6970395" algn="l"/>
                <a:tab pos="8293100" algn="l"/>
                <a:tab pos="8923655" algn="l"/>
              </a:tabLst>
            </a:pPr>
            <a:r>
              <a:rPr sz="2750" spc="85" dirty="0"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105" dirty="0">
                <a:latin typeface="Times New Roman" panose="02020603050405020304"/>
                <a:cs typeface="Times New Roman" panose="02020603050405020304"/>
              </a:rPr>
              <a:t>Output: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5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insights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10" dirty="0">
                <a:latin typeface="Times New Roman" panose="02020603050405020304"/>
                <a:cs typeface="Times New Roman" panose="02020603050405020304"/>
              </a:rPr>
              <a:t>decision- </a:t>
            </a:r>
            <a:r>
              <a:rPr sz="2750" spc="85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27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4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7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27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65" dirty="0">
                <a:latin typeface="Times New Roman" panose="02020603050405020304"/>
                <a:cs typeface="Times New Roman" panose="02020603050405020304"/>
              </a:rPr>
              <a:t>prevention.</a:t>
            </a:r>
            <a:endParaRPr sz="27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595" y="1408854"/>
            <a:ext cx="6115049" cy="80483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68714" y="162769"/>
            <a:ext cx="64712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2695" algn="l"/>
              </a:tabLst>
            </a:pPr>
            <a:r>
              <a:rPr spc="-10" dirty="0"/>
              <a:t>System</a:t>
            </a:r>
            <a:r>
              <a:rPr dirty="0"/>
              <a:t>	</a:t>
            </a:r>
            <a:r>
              <a:rPr spc="-135" dirty="0"/>
              <a:t>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5529" y="209801"/>
            <a:ext cx="23355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Results</a:t>
            </a:r>
          </a:p>
        </p:txBody>
      </p:sp>
      <p:sp>
        <p:nvSpPr>
          <p:cNvPr id="3" name="object 3"/>
          <p:cNvSpPr/>
          <p:nvPr/>
        </p:nvSpPr>
        <p:spPr>
          <a:xfrm>
            <a:off x="3293897" y="1279770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1814193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293814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4062093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5186043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6309993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7433943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44" y="8557893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89686" y="1463927"/>
            <a:ext cx="14601825" cy="789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200" spc="9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successfully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integrates </a:t>
            </a:r>
            <a:r>
              <a:rPr sz="3200" spc="16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analysis,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learning,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visualization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unified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platform.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  <a:tabLst>
                <a:tab pos="973455" algn="l"/>
                <a:tab pos="2787650" algn="l"/>
                <a:tab pos="4197985" algn="l"/>
                <a:tab pos="5558155" algn="l"/>
                <a:tab pos="7346950" algn="l"/>
                <a:tab pos="8375650" algn="l"/>
                <a:tab pos="10301605" algn="l"/>
                <a:tab pos="12068810" algn="l"/>
                <a:tab pos="13627735" algn="l"/>
              </a:tabLst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70" dirty="0">
                <a:latin typeface="Times New Roman" panose="02020603050405020304"/>
                <a:cs typeface="Times New Roman" panose="02020603050405020304"/>
              </a:rPr>
              <a:t>Random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Forest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achieved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89%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accuracy,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ensuring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crime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results.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  <a:tabLst>
                <a:tab pos="1671320" algn="l"/>
                <a:tab pos="3484245" algn="l"/>
                <a:tab pos="3971290" algn="l"/>
                <a:tab pos="5941695" algn="l"/>
                <a:tab pos="7664450" algn="l"/>
                <a:tab pos="8806815" algn="l"/>
                <a:tab pos="10666095" algn="l"/>
                <a:tab pos="12792075" algn="l"/>
              </a:tabLst>
            </a:pPr>
            <a:r>
              <a:rPr sz="3200" spc="145" dirty="0">
                <a:latin typeface="Times New Roman" panose="02020603050405020304"/>
                <a:cs typeface="Times New Roman" panose="02020603050405020304"/>
              </a:rPr>
              <a:t>Hotspot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effectively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achieved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5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Clustering,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classifying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districts</a:t>
            </a:r>
            <a:r>
              <a:rPr sz="3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High,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Medium,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zones.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  <a:tabLst>
                <a:tab pos="854710" algn="l"/>
                <a:tab pos="2167890" algn="l"/>
                <a:tab pos="3977640" algn="l"/>
                <a:tab pos="5737225" algn="l"/>
                <a:tab pos="7432675" algn="l"/>
                <a:tab pos="8028940" algn="l"/>
                <a:tab pos="10034270" algn="l"/>
                <a:tab pos="11882755" algn="l"/>
                <a:tab pos="12814300" algn="l"/>
              </a:tabLst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25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improves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combining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threshold-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logic.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  <a:spcBef>
                <a:spcPts val="5"/>
              </a:spcBef>
              <a:tabLst>
                <a:tab pos="900430" algn="l"/>
                <a:tab pos="2930525" algn="l"/>
                <a:tab pos="4357370" algn="l"/>
                <a:tab pos="5334635" algn="l"/>
                <a:tab pos="7028815" algn="l"/>
                <a:tab pos="8069580" algn="l"/>
                <a:tab pos="10507345" algn="l"/>
                <a:tab pos="12919710" algn="l"/>
                <a:tab pos="13492480" algn="l"/>
              </a:tabLst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Leaflet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map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geographical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crime- 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prone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areas.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  <a:tabLst>
                <a:tab pos="957580" algn="l"/>
                <a:tab pos="3266440" algn="l"/>
                <a:tab pos="4185920" algn="l"/>
                <a:tab pos="5105400" algn="l"/>
                <a:tab pos="6654165" algn="l"/>
                <a:tab pos="8698230" algn="l"/>
                <a:tab pos="9622155" algn="l"/>
                <a:tab pos="10635615" algn="l"/>
                <a:tab pos="13308330" algn="l"/>
                <a:tab pos="13938885" algn="l"/>
              </a:tabLst>
            </a:pPr>
            <a:r>
              <a:rPr sz="3200" spc="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tree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enables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structured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13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interpretation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risk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distribution.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</a:pPr>
            <a:r>
              <a:rPr sz="3200" spc="9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supports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insights,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helping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decision-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3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crime </a:t>
            </a:r>
            <a:r>
              <a:rPr sz="3200" spc="70" dirty="0">
                <a:latin typeface="Times New Roman" panose="02020603050405020304"/>
                <a:cs typeface="Times New Roman" panose="02020603050405020304"/>
              </a:rPr>
              <a:t>prevention.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1761" y="1028700"/>
            <a:ext cx="4829174" cy="91154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1197" y="-41268"/>
            <a:ext cx="117259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3015" algn="l"/>
                <a:tab pos="5001260" algn="l"/>
                <a:tab pos="11712575" algn="l"/>
              </a:tabLst>
            </a:pPr>
            <a:r>
              <a:rPr b="0" u="sng" dirty="0">
                <a:uFill>
                  <a:solidFill>
                    <a:srgbClr val="57377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u="sng" spc="-10" dirty="0">
                <a:uFill>
                  <a:solidFill>
                    <a:srgbClr val="573779"/>
                  </a:solidFill>
                </a:uFill>
              </a:rPr>
              <a:t>Output</a:t>
            </a:r>
            <a:r>
              <a:rPr u="sng" dirty="0">
                <a:uFill>
                  <a:solidFill>
                    <a:srgbClr val="573779"/>
                  </a:solidFill>
                </a:uFill>
              </a:rPr>
              <a:t>	</a:t>
            </a:r>
            <a:r>
              <a:rPr u="sng" spc="-10" dirty="0">
                <a:uFill>
                  <a:solidFill>
                    <a:srgbClr val="573779"/>
                  </a:solidFill>
                </a:uFill>
              </a:rPr>
              <a:t>Screenshots</a:t>
            </a:r>
            <a:r>
              <a:rPr u="sng" dirty="0">
                <a:uFill>
                  <a:solidFill>
                    <a:srgbClr val="573779"/>
                  </a:solidFill>
                </a:uFill>
              </a:rPr>
              <a:t>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696351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3672" y="2120787"/>
            <a:ext cx="13277849" cy="6877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01928" y="415925"/>
            <a:ext cx="62318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0310" algn="l"/>
              </a:tabLst>
            </a:pPr>
            <a:r>
              <a:rPr spc="-10" dirty="0"/>
              <a:t>Output</a:t>
            </a:r>
            <a:r>
              <a:rPr dirty="0"/>
              <a:t>	</a:t>
            </a:r>
            <a:r>
              <a:rPr spc="-85" dirty="0"/>
              <a:t>Screenshots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293033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2780" y="2305536"/>
            <a:ext cx="9705974" cy="5676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01928" y="204015"/>
            <a:ext cx="62318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0310" algn="l"/>
              </a:tabLst>
            </a:pPr>
            <a:r>
              <a:rPr spc="-10" dirty="0"/>
              <a:t>Output</a:t>
            </a:r>
            <a:r>
              <a:rPr dirty="0"/>
              <a:t>	</a:t>
            </a:r>
            <a:r>
              <a:rPr spc="-85" dirty="0"/>
              <a:t>Screenshots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182420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5206" y="1497092"/>
            <a:ext cx="7258049" cy="84007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79804" y="93402"/>
            <a:ext cx="62318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0310" algn="l"/>
              </a:tabLst>
            </a:pPr>
            <a:r>
              <a:rPr spc="-10" dirty="0"/>
              <a:t>Output</a:t>
            </a:r>
            <a:r>
              <a:rPr dirty="0"/>
              <a:t>	</a:t>
            </a:r>
            <a:r>
              <a:rPr spc="-85" dirty="0"/>
              <a:t>Screenshots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3897" y="1587059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72770" y="278965"/>
            <a:ext cx="381190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Conclusions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2328941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3433841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3986291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5091191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6196091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7300991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  <a:tabLst>
                <a:tab pos="873760" algn="l"/>
                <a:tab pos="2259330" algn="l"/>
                <a:tab pos="4432935" algn="l"/>
                <a:tab pos="6346190" algn="l"/>
                <a:tab pos="6965950" algn="l"/>
                <a:tab pos="8729345" algn="l"/>
                <a:tab pos="9869170" algn="l"/>
                <a:tab pos="11802745" algn="l"/>
                <a:tab pos="12643485" algn="l"/>
                <a:tab pos="14143990" algn="l"/>
              </a:tabLst>
            </a:pPr>
            <a:r>
              <a:rPr spc="65" dirty="0"/>
              <a:t>The</a:t>
            </a:r>
            <a:r>
              <a:rPr dirty="0"/>
              <a:t>	</a:t>
            </a:r>
            <a:r>
              <a:rPr spc="65" dirty="0"/>
              <a:t>project</a:t>
            </a:r>
            <a:r>
              <a:rPr dirty="0"/>
              <a:t>	</a:t>
            </a:r>
            <a:r>
              <a:rPr spc="-10" dirty="0"/>
              <a:t>successfully</a:t>
            </a:r>
            <a:r>
              <a:rPr dirty="0"/>
              <a:t>	</a:t>
            </a:r>
            <a:r>
              <a:rPr spc="40" dirty="0"/>
              <a:t>developed</a:t>
            </a:r>
            <a:r>
              <a:rPr dirty="0"/>
              <a:t>	</a:t>
            </a:r>
            <a:r>
              <a:rPr spc="135" dirty="0"/>
              <a:t>an</a:t>
            </a:r>
            <a:r>
              <a:rPr dirty="0"/>
              <a:t>	</a:t>
            </a:r>
            <a:r>
              <a:rPr spc="85" dirty="0"/>
              <a:t>AI-</a:t>
            </a:r>
            <a:r>
              <a:rPr spc="60" dirty="0"/>
              <a:t>based</a:t>
            </a:r>
            <a:r>
              <a:rPr dirty="0"/>
              <a:t>	</a:t>
            </a:r>
            <a:r>
              <a:rPr spc="-10" dirty="0"/>
              <a:t>crime</a:t>
            </a:r>
            <a:r>
              <a:rPr dirty="0"/>
              <a:t>	</a:t>
            </a:r>
            <a:r>
              <a:rPr spc="70" dirty="0"/>
              <a:t>prediction</a:t>
            </a:r>
            <a:r>
              <a:rPr dirty="0"/>
              <a:t>	</a:t>
            </a:r>
            <a:r>
              <a:rPr spc="130" dirty="0"/>
              <a:t>and</a:t>
            </a:r>
            <a:r>
              <a:rPr dirty="0"/>
              <a:t>	</a:t>
            </a:r>
            <a:r>
              <a:rPr spc="114" dirty="0"/>
              <a:t>hotspot</a:t>
            </a:r>
            <a:r>
              <a:rPr dirty="0"/>
              <a:t>	</a:t>
            </a:r>
            <a:r>
              <a:rPr spc="60" dirty="0"/>
              <a:t>detection </a:t>
            </a:r>
            <a:r>
              <a:rPr dirty="0"/>
              <a:t>system</a:t>
            </a:r>
            <a:r>
              <a:rPr spc="140" dirty="0"/>
              <a:t> </a:t>
            </a:r>
            <a:r>
              <a:rPr dirty="0"/>
              <a:t>using</a:t>
            </a:r>
            <a:r>
              <a:rPr spc="135" dirty="0"/>
              <a:t> </a:t>
            </a:r>
            <a:r>
              <a:rPr spc="60" dirty="0"/>
              <a:t>historical</a:t>
            </a:r>
            <a:r>
              <a:rPr spc="140" dirty="0"/>
              <a:t> </a:t>
            </a:r>
            <a:r>
              <a:rPr spc="120" dirty="0"/>
              <a:t>data.</a:t>
            </a: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pc="90" dirty="0"/>
              <a:t>The</a:t>
            </a:r>
            <a:r>
              <a:rPr spc="65" dirty="0"/>
              <a:t> </a:t>
            </a:r>
            <a:r>
              <a:rPr spc="175" dirty="0"/>
              <a:t>Random</a:t>
            </a:r>
            <a:r>
              <a:rPr spc="75" dirty="0"/>
              <a:t> </a:t>
            </a:r>
            <a:r>
              <a:rPr spc="120" dirty="0"/>
              <a:t>Forest</a:t>
            </a:r>
            <a:r>
              <a:rPr spc="80" dirty="0"/>
              <a:t> </a:t>
            </a:r>
            <a:r>
              <a:rPr spc="70" dirty="0"/>
              <a:t>model</a:t>
            </a:r>
            <a:r>
              <a:rPr spc="80" dirty="0"/>
              <a:t> </a:t>
            </a:r>
            <a:r>
              <a:rPr dirty="0"/>
              <a:t>achieved</a:t>
            </a:r>
            <a:r>
              <a:rPr spc="75" dirty="0"/>
              <a:t> </a:t>
            </a:r>
            <a:r>
              <a:rPr dirty="0"/>
              <a:t>89%</a:t>
            </a:r>
            <a:r>
              <a:rPr spc="80" dirty="0"/>
              <a:t> </a:t>
            </a:r>
            <a:r>
              <a:rPr spc="60" dirty="0"/>
              <a:t>accuracy,</a:t>
            </a:r>
            <a:r>
              <a:rPr spc="75" dirty="0"/>
              <a:t> </a:t>
            </a:r>
            <a:r>
              <a:rPr spc="70" dirty="0"/>
              <a:t>providing</a:t>
            </a:r>
            <a:r>
              <a:rPr spc="80" dirty="0"/>
              <a:t> </a:t>
            </a:r>
            <a:r>
              <a:rPr dirty="0"/>
              <a:t>reliable</a:t>
            </a:r>
            <a:r>
              <a:rPr spc="75" dirty="0"/>
              <a:t> </a:t>
            </a:r>
            <a:r>
              <a:rPr dirty="0"/>
              <a:t>crime</a:t>
            </a:r>
            <a:r>
              <a:rPr spc="80" dirty="0"/>
              <a:t> </a:t>
            </a:r>
            <a:r>
              <a:rPr spc="45" dirty="0"/>
              <a:t>forecasts.</a:t>
            </a:r>
          </a:p>
          <a:p>
            <a:pPr marL="12700" marR="5080">
              <a:lnSpc>
                <a:spcPct val="115000"/>
              </a:lnSpc>
            </a:pPr>
            <a:r>
              <a:rPr spc="135" dirty="0"/>
              <a:t>K-</a:t>
            </a:r>
            <a:r>
              <a:rPr spc="110" dirty="0"/>
              <a:t>Means</a:t>
            </a:r>
            <a:r>
              <a:rPr spc="390" dirty="0"/>
              <a:t> </a:t>
            </a:r>
            <a:r>
              <a:rPr dirty="0"/>
              <a:t>clustering</a:t>
            </a:r>
            <a:r>
              <a:rPr spc="390" dirty="0"/>
              <a:t> </a:t>
            </a:r>
            <a:r>
              <a:rPr dirty="0"/>
              <a:t>effectively</a:t>
            </a:r>
            <a:r>
              <a:rPr spc="390" dirty="0"/>
              <a:t> </a:t>
            </a:r>
            <a:r>
              <a:rPr dirty="0"/>
              <a:t>identified</a:t>
            </a:r>
            <a:r>
              <a:rPr spc="395" dirty="0"/>
              <a:t> </a:t>
            </a:r>
            <a:r>
              <a:rPr dirty="0"/>
              <a:t>crime-</a:t>
            </a:r>
            <a:r>
              <a:rPr spc="114" dirty="0"/>
              <a:t>prone</a:t>
            </a:r>
            <a:r>
              <a:rPr spc="390" dirty="0"/>
              <a:t> </a:t>
            </a:r>
            <a:r>
              <a:rPr spc="80" dirty="0"/>
              <a:t>areas</a:t>
            </a:r>
            <a:r>
              <a:rPr spc="390" dirty="0"/>
              <a:t> </a:t>
            </a:r>
            <a:r>
              <a:rPr spc="65" dirty="0"/>
              <a:t>by</a:t>
            </a:r>
            <a:r>
              <a:rPr spc="390" dirty="0"/>
              <a:t> </a:t>
            </a:r>
            <a:r>
              <a:rPr dirty="0"/>
              <a:t>classifying</a:t>
            </a:r>
            <a:r>
              <a:rPr spc="390" dirty="0"/>
              <a:t> </a:t>
            </a:r>
            <a:r>
              <a:rPr spc="50" dirty="0"/>
              <a:t>districts</a:t>
            </a:r>
            <a:r>
              <a:rPr spc="390" dirty="0"/>
              <a:t> </a:t>
            </a:r>
            <a:r>
              <a:rPr spc="110" dirty="0"/>
              <a:t>into</a:t>
            </a:r>
            <a:r>
              <a:rPr spc="390" dirty="0"/>
              <a:t> </a:t>
            </a:r>
            <a:r>
              <a:rPr spc="40" dirty="0"/>
              <a:t>risk </a:t>
            </a:r>
            <a:r>
              <a:rPr spc="-10" dirty="0"/>
              <a:t>levels.</a:t>
            </a:r>
          </a:p>
          <a:p>
            <a:pPr marL="12700" marR="5080">
              <a:lnSpc>
                <a:spcPct val="115000"/>
              </a:lnSpc>
              <a:tabLst>
                <a:tab pos="954405" algn="l"/>
                <a:tab pos="3103880" algn="l"/>
                <a:tab pos="3738245" algn="l"/>
                <a:tab pos="5797550" algn="l"/>
                <a:tab pos="7266940" algn="l"/>
                <a:tab pos="8448675" algn="l"/>
                <a:tab pos="9369425" algn="l"/>
                <a:tab pos="11644630" algn="l"/>
                <a:tab pos="14077315" algn="l"/>
              </a:tabLst>
            </a:pPr>
            <a:r>
              <a:rPr spc="65" dirty="0"/>
              <a:t>The</a:t>
            </a:r>
            <a:r>
              <a:rPr dirty="0"/>
              <a:t>	</a:t>
            </a:r>
            <a:r>
              <a:rPr spc="75" dirty="0"/>
              <a:t>integration</a:t>
            </a:r>
            <a:r>
              <a:rPr dirty="0"/>
              <a:t>	</a:t>
            </a:r>
            <a:r>
              <a:rPr spc="35" dirty="0"/>
              <a:t>of</a:t>
            </a:r>
            <a:r>
              <a:rPr dirty="0"/>
              <a:t>	</a:t>
            </a:r>
            <a:r>
              <a:rPr spc="45" dirty="0"/>
              <a:t>interactive</a:t>
            </a:r>
            <a:r>
              <a:rPr dirty="0"/>
              <a:t>	</a:t>
            </a:r>
            <a:r>
              <a:rPr spc="40" dirty="0"/>
              <a:t>Leaflet</a:t>
            </a:r>
            <a:r>
              <a:rPr dirty="0"/>
              <a:t>	</a:t>
            </a:r>
            <a:r>
              <a:rPr spc="80" dirty="0"/>
              <a:t>maps</a:t>
            </a:r>
            <a:r>
              <a:rPr dirty="0"/>
              <a:t>	</a:t>
            </a:r>
            <a:r>
              <a:rPr spc="130" dirty="0"/>
              <a:t>and</a:t>
            </a:r>
            <a:r>
              <a:rPr dirty="0"/>
              <a:t>	</a:t>
            </a:r>
            <a:r>
              <a:rPr spc="50" dirty="0"/>
              <a:t>hierarchical</a:t>
            </a:r>
            <a:r>
              <a:rPr dirty="0"/>
              <a:t>	</a:t>
            </a:r>
            <a:r>
              <a:rPr spc="45" dirty="0"/>
              <a:t>visualization</a:t>
            </a:r>
            <a:r>
              <a:rPr dirty="0"/>
              <a:t>	</a:t>
            </a:r>
            <a:r>
              <a:rPr spc="70" dirty="0"/>
              <a:t>improved </a:t>
            </a:r>
            <a:r>
              <a:rPr spc="95" dirty="0"/>
              <a:t>understanding</a:t>
            </a:r>
            <a:r>
              <a:rPr spc="70" dirty="0"/>
              <a:t> of </a:t>
            </a:r>
            <a:r>
              <a:rPr dirty="0"/>
              <a:t>crime</a:t>
            </a:r>
            <a:r>
              <a:rPr spc="70" dirty="0"/>
              <a:t> </a:t>
            </a:r>
            <a:r>
              <a:rPr spc="80" dirty="0"/>
              <a:t>distribution.</a:t>
            </a:r>
          </a:p>
          <a:p>
            <a:pPr marL="12700" marR="5080">
              <a:lnSpc>
                <a:spcPct val="115000"/>
              </a:lnSpc>
              <a:tabLst>
                <a:tab pos="899160" algn="l"/>
                <a:tab pos="2268220" algn="l"/>
                <a:tab pos="3744595" algn="l"/>
                <a:tab pos="5931535" algn="l"/>
                <a:tab pos="9053195" algn="l"/>
                <a:tab pos="10530205" algn="l"/>
                <a:tab pos="12579985" algn="l"/>
                <a:tab pos="14123035" algn="l"/>
              </a:tabLst>
            </a:pPr>
            <a:r>
              <a:rPr spc="65" dirty="0"/>
              <a:t>The</a:t>
            </a:r>
            <a:r>
              <a:rPr dirty="0"/>
              <a:t>	</a:t>
            </a:r>
            <a:r>
              <a:rPr spc="-10" dirty="0"/>
              <a:t>system</a:t>
            </a:r>
            <a:r>
              <a:rPr dirty="0"/>
              <a:t>	</a:t>
            </a:r>
            <a:r>
              <a:rPr spc="35" dirty="0"/>
              <a:t>enables</a:t>
            </a:r>
            <a:r>
              <a:rPr dirty="0"/>
              <a:t>	</a:t>
            </a:r>
            <a:r>
              <a:rPr spc="120" dirty="0"/>
              <a:t>data-</a:t>
            </a:r>
            <a:r>
              <a:rPr spc="50" dirty="0"/>
              <a:t>driven</a:t>
            </a:r>
            <a:r>
              <a:rPr dirty="0"/>
              <a:t>	decision-</a:t>
            </a:r>
            <a:r>
              <a:rPr spc="75" dirty="0"/>
              <a:t>making,</a:t>
            </a:r>
            <a:r>
              <a:rPr dirty="0"/>
              <a:t>	</a:t>
            </a:r>
            <a:r>
              <a:rPr spc="35" dirty="0"/>
              <a:t>helping</a:t>
            </a:r>
            <a:r>
              <a:rPr dirty="0"/>
              <a:t>	</a:t>
            </a:r>
            <a:r>
              <a:rPr spc="75" dirty="0"/>
              <a:t>authorities</a:t>
            </a:r>
            <a:r>
              <a:rPr dirty="0"/>
              <a:t>	</a:t>
            </a:r>
            <a:r>
              <a:rPr spc="50" dirty="0"/>
              <a:t>allocate</a:t>
            </a:r>
            <a:r>
              <a:rPr dirty="0"/>
              <a:t>	</a:t>
            </a:r>
            <a:r>
              <a:rPr spc="40" dirty="0"/>
              <a:t>resources </a:t>
            </a:r>
            <a:r>
              <a:rPr spc="-10" dirty="0"/>
              <a:t>efficiently.</a:t>
            </a: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/>
              <a:t>Overall,</a:t>
            </a:r>
            <a:r>
              <a:rPr spc="65" dirty="0"/>
              <a:t> </a:t>
            </a:r>
            <a:r>
              <a:rPr spc="95" dirty="0"/>
              <a:t>the</a:t>
            </a:r>
            <a:r>
              <a:rPr spc="65" dirty="0"/>
              <a:t> </a:t>
            </a:r>
            <a:r>
              <a:rPr spc="85" dirty="0"/>
              <a:t>solution</a:t>
            </a:r>
            <a:r>
              <a:rPr spc="65" dirty="0"/>
              <a:t> </a:t>
            </a:r>
            <a:r>
              <a:rPr spc="100" dirty="0"/>
              <a:t>promotes</a:t>
            </a:r>
            <a:r>
              <a:rPr spc="65" dirty="0"/>
              <a:t> </a:t>
            </a:r>
            <a:r>
              <a:rPr spc="70" dirty="0"/>
              <a:t>proactive </a:t>
            </a:r>
            <a:r>
              <a:rPr dirty="0"/>
              <a:t>crime</a:t>
            </a:r>
            <a:r>
              <a:rPr spc="65" dirty="0"/>
              <a:t> </a:t>
            </a:r>
            <a:r>
              <a:rPr spc="80" dirty="0"/>
              <a:t>prevention</a:t>
            </a:r>
            <a:r>
              <a:rPr spc="65" dirty="0"/>
              <a:t> </a:t>
            </a:r>
            <a:r>
              <a:rPr spc="155" dirty="0"/>
              <a:t>and</a:t>
            </a:r>
            <a:r>
              <a:rPr spc="65" dirty="0"/>
              <a:t> </a:t>
            </a:r>
            <a:r>
              <a:rPr spc="80" dirty="0"/>
              <a:t>enhanced</a:t>
            </a:r>
            <a:r>
              <a:rPr spc="70" dirty="0"/>
              <a:t> </a:t>
            </a:r>
            <a:r>
              <a:rPr spc="60" dirty="0"/>
              <a:t>public</a:t>
            </a:r>
            <a:r>
              <a:rPr spc="65" dirty="0"/>
              <a:t> </a:t>
            </a:r>
            <a:r>
              <a:rPr spc="-10" dirty="0"/>
              <a:t>safety.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3931" y="873118"/>
            <a:ext cx="42087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05685" algn="l"/>
              </a:tabLst>
            </a:pPr>
            <a:r>
              <a:rPr spc="-10" dirty="0"/>
              <a:t>Future</a:t>
            </a:r>
            <a:r>
              <a:rPr dirty="0"/>
              <a:t>	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3226557" y="1962137"/>
            <a:ext cx="11700510" cy="0"/>
          </a:xfrm>
          <a:custGeom>
            <a:avLst/>
            <a:gdLst/>
            <a:ahLst/>
            <a:cxnLst/>
            <a:rect l="l" t="t" r="r" b="b"/>
            <a:pathLst>
              <a:path w="11700510">
                <a:moveTo>
                  <a:pt x="0" y="0"/>
                </a:moveTo>
                <a:lnTo>
                  <a:pt x="11700203" y="0"/>
                </a:lnTo>
              </a:path>
            </a:pathLst>
          </a:custGeom>
          <a:ln w="38099">
            <a:solidFill>
              <a:srgbClr val="573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2662410"/>
            <a:ext cx="95682" cy="956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3829730"/>
            <a:ext cx="95682" cy="956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4997050"/>
            <a:ext cx="95682" cy="956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5580710"/>
            <a:ext cx="95682" cy="956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6164371"/>
            <a:ext cx="95682" cy="956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7331691"/>
            <a:ext cx="95682" cy="9568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809" y="7915351"/>
            <a:ext cx="95682" cy="9568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56899" y="2294040"/>
            <a:ext cx="15092680" cy="5862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6000"/>
              </a:lnSpc>
              <a:spcBef>
                <a:spcPts val="90"/>
              </a:spcBef>
            </a:pP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Integrate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33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live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sources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33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up-to-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date 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predictions.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ts val="4600"/>
              </a:lnSpc>
              <a:spcBef>
                <a:spcPts val="255"/>
              </a:spcBef>
            </a:pPr>
            <a:r>
              <a:rPr sz="3300" spc="125" dirty="0">
                <a:latin typeface="Times New Roman" panose="02020603050405020304"/>
                <a:cs typeface="Times New Roman" panose="02020603050405020304"/>
              </a:rPr>
              <a:t>Enhance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advanced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algorithms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3300" spc="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300" spc="15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LSTM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time-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series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forecasting.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3300" spc="150" dirty="0">
                <a:latin typeface="Times New Roman" panose="02020603050405020304"/>
                <a:cs typeface="Times New Roman" panose="02020603050405020304"/>
              </a:rPr>
              <a:t>Expand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include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type-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wise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55" dirty="0"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detailed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insights.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ts val="4600"/>
              </a:lnSpc>
              <a:spcBef>
                <a:spcPts val="255"/>
              </a:spcBef>
            </a:pP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5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authorities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public. </a:t>
            </a:r>
            <a:r>
              <a:rPr sz="3300" spc="140" dirty="0">
                <a:latin typeface="Times New Roman" panose="02020603050405020304"/>
                <a:cs typeface="Times New Roman" panose="02020603050405020304"/>
              </a:rPr>
              <a:t>Incorporate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25" dirty="0">
                <a:latin typeface="Times New Roman" panose="02020603050405020304"/>
                <a:cs typeface="Times New Roman" panose="02020603050405020304"/>
              </a:rPr>
              <a:t>heatmaps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5" dirty="0">
                <a:latin typeface="Times New Roman" panose="02020603050405020304"/>
                <a:cs typeface="Times New Roman" panose="02020603050405020304"/>
              </a:rPr>
              <a:t>advanced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0" dirty="0">
                <a:latin typeface="Times New Roman" panose="02020603050405020304"/>
                <a:cs typeface="Times New Roman" panose="02020603050405020304"/>
              </a:rPr>
              <a:t>geospatial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analytics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70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33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300" spc="50" dirty="0">
                <a:latin typeface="Times New Roman" panose="02020603050405020304"/>
                <a:cs typeface="Times New Roman" panose="02020603050405020304"/>
              </a:rPr>
              <a:t>crime</a:t>
            </a:r>
            <a:r>
              <a:rPr sz="3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0" dirty="0">
                <a:latin typeface="Times New Roman" panose="02020603050405020304"/>
                <a:cs typeface="Times New Roman" panose="02020603050405020304"/>
              </a:rPr>
              <a:t>patterns.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365"/>
              </a:spcBef>
            </a:pP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Enable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alert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85" dirty="0">
                <a:latin typeface="Times New Roman" panose="02020603050405020304"/>
                <a:cs typeface="Times New Roman" panose="02020603050405020304"/>
              </a:rPr>
              <a:t>notifications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3300" spc="75" dirty="0">
                <a:latin typeface="Times New Roman" panose="02020603050405020304"/>
                <a:cs typeface="Times New Roman" panose="02020603050405020304"/>
              </a:rPr>
              <a:t>risk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00" dirty="0">
                <a:latin typeface="Times New Roman" panose="02020603050405020304"/>
                <a:cs typeface="Times New Roman" panose="02020603050405020304"/>
              </a:rPr>
              <a:t>areas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5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33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quick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5" dirty="0">
                <a:latin typeface="Times New Roman" panose="02020603050405020304"/>
                <a:cs typeface="Times New Roman" panose="02020603050405020304"/>
              </a:rPr>
              <a:t>action.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640"/>
              </a:spcBef>
            </a:pP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Extend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8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cover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35" dirty="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5" dirty="0">
                <a:latin typeface="Times New Roman" panose="02020603050405020304"/>
                <a:cs typeface="Times New Roman" panose="02020603050405020304"/>
              </a:rPr>
              <a:t>regions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7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90" dirty="0">
                <a:latin typeface="Times New Roman" panose="02020603050405020304"/>
                <a:cs typeface="Times New Roman" panose="02020603050405020304"/>
              </a:rPr>
              <a:t>countries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14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145" dirty="0">
                <a:latin typeface="Times New Roman" panose="02020603050405020304"/>
                <a:cs typeface="Times New Roman" panose="02020603050405020304"/>
              </a:rPr>
              <a:t>broader</a:t>
            </a:r>
            <a:r>
              <a:rPr sz="33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60" dirty="0">
                <a:latin typeface="Times New Roman" panose="02020603050405020304"/>
                <a:cs typeface="Times New Roman" panose="02020603050405020304"/>
              </a:rPr>
              <a:t>applicability.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2017</Words>
  <Application>Microsoft Office PowerPoint</Application>
  <PresentationFormat>Custom</PresentationFormat>
  <Paragraphs>159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Lucida Sans Unicode</vt:lpstr>
      <vt:lpstr>Times New Roman</vt:lpstr>
      <vt:lpstr>Office Theme</vt:lpstr>
      <vt:lpstr>  AI-Based Crime Prediction and Hotspot  Detection System for India</vt:lpstr>
      <vt:lpstr>INDEX :</vt:lpstr>
      <vt:lpstr>Problem Statement</vt:lpstr>
      <vt:lpstr>Objectives</vt:lpstr>
      <vt:lpstr>Proposed Solution</vt:lpstr>
      <vt:lpstr> Modularization of Project </vt:lpstr>
      <vt:lpstr> Key Features </vt:lpstr>
      <vt:lpstr>Data Preprocessing &amp; Feature Engineering</vt:lpstr>
      <vt:lpstr>Design Methodology</vt:lpstr>
      <vt:lpstr>Project Demonstration</vt:lpstr>
      <vt:lpstr>Test Case Specifications</vt:lpstr>
      <vt:lpstr>System Requirements</vt:lpstr>
      <vt:lpstr>System Architecture</vt:lpstr>
      <vt:lpstr>Results</vt:lpstr>
      <vt:lpstr> Output Screenshots </vt:lpstr>
      <vt:lpstr>Output Screenshots</vt:lpstr>
      <vt:lpstr>Output Screenshots</vt:lpstr>
      <vt:lpstr>Output Screenshots</vt:lpstr>
      <vt:lpstr>Conclusions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	Crime	Prediction	and	Hotspot	Detection System	for	India</dc:title>
  <dc:creator>Jahnavi Gorle</dc:creator>
  <cp:keywords>DAHFfSPtbn4,BAF4kBhXqcw,0</cp:keywords>
  <cp:lastModifiedBy>Sagar Valmiki</cp:lastModifiedBy>
  <cp:revision>6</cp:revision>
  <dcterms:created xsi:type="dcterms:W3CDTF">2026-04-11T06:00:00Z</dcterms:created>
  <dcterms:modified xsi:type="dcterms:W3CDTF">2026-04-21T01:15:44Z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2026-04-01T11:00:00Z</vt:filetime>
  </property>
  <property fmtid="{D5CDD505-2E9C-101B-9397-08002B2CF9AE}" pid="3" name="Creator">
    <vt:lpwstr>Canva</vt:lpwstr>
  </property>
  <property fmtid="{D5CDD505-2E9C-101B-9397-08002B2CF9AE}" pid="4" name="LastSaved">
    <vt:filetime>2026-04-11T11:00:00Z</vt:filetime>
  </property>
  <property fmtid="{D5CDD505-2E9C-101B-9397-08002B2CF9AE}" pid="5" name="Producer">
    <vt:lpwstr>Canva</vt:lpwstr>
  </property>
  <property fmtid="{D5CDD505-2E9C-101B-9397-08002B2CF9AE}" pid="6" name="ICV">
    <vt:lpwstr>FA5658B48BE24E57948160305AB46C9F_12</vt:lpwstr>
  </property>
  <property fmtid="{D5CDD505-2E9C-101B-9397-08002B2CF9AE}" pid="7" name="KSOProductBuildVer">
    <vt:lpwstr>1033-12.1.0.25242</vt:lpwstr>
  </property>
</Properties>
</file>